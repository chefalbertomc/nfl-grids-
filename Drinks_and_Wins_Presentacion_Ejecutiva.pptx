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5760720" cy="539496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79919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1945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FFB612"/>
                </a:solidFill>
              </a:defRPr>
            </a:pPr>
            <a:r>
              <a:t>MANUAL OPERATIVO Y PRESENTACIÓN EJECUTIVA</a:t>
            </a:r>
          </a:p>
          <a:p>
            <a:pPr>
              <a:spcAft>
                <a:spcPts val="400"/>
              </a:spcAft>
              <a:defRPr sz="3600" b="1">
                <a:solidFill>
                  <a:srgbClr val="FFFFFF"/>
                </a:solidFill>
              </a:defRPr>
            </a:pPr>
            <a:r>
              <a:t>DRINKS &amp; WINS</a:t>
            </a:r>
          </a:p>
          <a:p>
            <a:pPr>
              <a:spcAft>
                <a:spcPts val="1000"/>
              </a:spcAft>
              <a:defRPr sz="2000" b="1">
                <a:solidFill>
                  <a:srgbClr val="FFD100"/>
                </a:solidFill>
              </a:defRPr>
            </a:pPr>
            <a:r>
              <a:t>Gamificación Deportiva en Mesa</a:t>
            </a:r>
          </a:p>
          <a:p>
            <a:pPr>
              <a:spcAft>
                <a:spcPts val="1400"/>
              </a:spcAft>
              <a:defRPr sz="1200">
                <a:solidFill>
                  <a:srgbClr val="FFFFFF"/>
                </a:solidFill>
              </a:defRPr>
            </a:pPr>
            <a:r>
              <a:t>Plataforma Digital Interactiva para Retención de Clientes y Aumento de Ticket Promedio.</a:t>
            </a:r>
          </a:p>
          <a:p>
            <a:pPr>
              <a:spcAft>
                <a:spcPts val="1000"/>
              </a:spcAft>
              <a:defRPr sz="1100">
                <a:solidFill>
                  <a:srgbClr val="9CADC4"/>
                </a:solidFill>
              </a:defRPr>
            </a:pPr>
            <a:r>
              <a:t>• Presentado por: Beto Muñoz • Gerencia Juriquilla</a:t>
            </a:r>
            <a:br/>
            <a:r>
              <a:t>• Dirigido a: Dirección General y Operaciones</a:t>
            </a:r>
          </a:p>
          <a:p>
            <a:pPr>
              <a:defRPr sz="1100" b="1" i="1">
                <a:solidFill>
                  <a:srgbClr val="FFD100"/>
                </a:solidFill>
              </a:defRPr>
            </a:pPr>
            <a:r>
              <a:t>«Nacido del piso de venta, la pasión por el servicio y la lealtad a la marca»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0256" y="2038771"/>
            <a:ext cx="4894783" cy="2780456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orts_bar_atmosphe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093635"/>
            <a:ext cx="4785055" cy="2670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4819228"/>
            <a:ext cx="4785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Ambiente Deportivo y Gamificación en Mesa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HISTORIA REAL • MOTIVACIÓN Y PROPÓSITO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2: El Corazón del Proyecto (Historia Real)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FD100"/>
                </a:solidFill>
              </a:defRPr>
            </a:pPr>
            <a:r>
              <a:t>❤️ «Mi objetivo siempre fue intentar que el cliente estuviera contento: aún si su equipo pierde o si el partido está aburrido. Al ser humano le gusta competir por naturaleza.»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🍺 El Origen en la Barra: </a:t>
            </a:r>
            <a:r>
              <a:rPr sz="1000">
                <a:solidFill>
                  <a:srgbClr val="FFFFFF"/>
                </a:solidFill>
              </a:rPr>
              <a:t>Nació cuando era barman en Álamos. Empecé inventando quinielas y dinámicas en hojas de papel entre mesas. De repente, la gente no solo veía la tele: convivían, gritaban y pedían más rondas de cerveza y alitas.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💬 Clientes Agradecidos: </a:t>
            </a:r>
            <a:r>
              <a:rPr sz="1000">
                <a:solidFill>
                  <a:srgbClr val="FFFFFF"/>
                </a:solidFill>
              </a:rPr>
              <a:t>Esas dinámicas crearon clientes tan fieles que hasta hoy me ven en la calle en Querétaro y me dicen: «¡Beto, qué onda! ¿Para cuándo otra quiniela o trivia?». Gracias a ellos y a sus propinas he sacado adelante a mi familia.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💡 De la Barra a la Innovación: </a:t>
            </a:r>
            <a:r>
              <a:rPr sz="1000">
                <a:solidFill>
                  <a:srgbClr val="FFFFFF"/>
                </a:solidFill>
              </a:rPr>
              <a:t>No soy programador ni diseñador gráfico; soy alguien que cree firmemente en esta marca y en su gente tras años de vivirla todos los días. Esa misma convicción me llevó a aprender por mi cuenta y crear herramientas para sumar al negocio y llevar la experiencia del cliente a otro nivel.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iendly_bartend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Beto Muñoz • De la Barra a la Innovación en Piso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OPERACIÓN EFICIENTE • TECNOLOGÍA EN PISO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3: El Reto Operativo y la Solución Autónoma al 80%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F5722"/>
                </a:solidFill>
              </a:defRPr>
            </a:pPr>
            <a:r>
              <a:t>⚖️ El Reto Operativo en Juriquilla</a:t>
            </a:r>
          </a:p>
          <a:p>
            <a:pPr>
              <a:spcAft>
                <a:spcPts val="1000"/>
              </a:spcAft>
              <a:defRPr sz="1000">
                <a:solidFill>
                  <a:srgbClr val="FFFFFF"/>
                </a:solidFill>
              </a:defRPr>
            </a:pPr>
            <a:r>
              <a:t>En Álamos estaba en la barra; en Juriquilla la prioridad es la operación integral: cocina, tiempos de servicio, mesas y auditorías. No se puede descuidar el piso para repartir hojas de papel.</a:t>
            </a:r>
          </a:p>
          <a:p>
            <a:pPr>
              <a:spcAft>
                <a:spcPts val="600"/>
              </a:spcAft>
              <a:defRPr sz="1400" b="1">
                <a:solidFill>
                  <a:srgbClr val="00E676"/>
                </a:solidFill>
              </a:defRPr>
            </a:pPr>
            <a:r>
              <a:t>🤖 La Solución Autónoma al 80%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Carga en segundos con IA e ESPN: </a:t>
            </a:r>
            <a:r>
              <a:rPr sz="1000">
                <a:solidFill>
                  <a:srgbClr val="FFFFFF"/>
                </a:solidFill>
              </a:rPr>
              <a:t>Las jornadas y partidos se sincronizan solos mediante APIs sin captura manual.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Resultados y puntos en vivo: </a:t>
            </a:r>
            <a:r>
              <a:rPr sz="1000">
                <a:solidFill>
                  <a:srgbClr val="FFFFFF"/>
                </a:solidFill>
              </a:rPr>
              <a:t>La plataforma liquida marcadores oficiales en tiempo real.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Cero distracción del personal: </a:t>
            </a:r>
            <a:r>
              <a:rPr sz="1000">
                <a:solidFill>
                  <a:srgbClr val="FFFFFF"/>
                </a:solidFill>
              </a:rPr>
              <a:t>El equipo de servicio se enfoca al 100% en atender comandas y consentir a la mesa.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orts_bar_atmosphe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Operación Eficiente sin Carga Administrativa en Piso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EXPERIENCIA DEL CLIENTE • ONBOARDING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4: Experiencia del Cliente (Onboarding en 15 Segundos)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612"/>
                </a:solidFill>
              </a:defRPr>
            </a:pPr>
            <a:r>
              <a:t>📱 Cuatro Pasos Sin Fricción Tecnológica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• Paso 1: Escaneo Inmediato: </a:t>
            </a:r>
            <a:r>
              <a:rPr sz="1000">
                <a:solidFill>
                  <a:srgbClr val="FFFFFF"/>
                </a:solidFill>
              </a:rPr>
              <a:t>El cliente escanea el QR en el acrílico de la mesa. Cero descargas de tiendas de apps (abre directo como PWA en Safari/Chrome).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• Paso 2: Registro con 1 Toque: </a:t>
            </a:r>
            <a:r>
              <a:rPr sz="1000">
                <a:solidFill>
                  <a:srgbClr val="FFFFFF"/>
                </a:solidFill>
              </a:rPr>
              <a:t>Ingreso ágil con cuenta de Google o nombre y celular.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Paso 3: Asignación de Mesa y Mesero: </a:t>
            </a:r>
            <a:r>
              <a:rPr sz="1000">
                <a:solidFill>
                  <a:srgbClr val="FFFFFF"/>
                </a:solidFill>
              </a:rPr>
              <a:t>Selecciona su número de mesa y quién lo atiende (esto garantiza que los premios lleguen al comensal exacto y premia la atención del mesero).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B0FF"/>
                </a:solidFill>
              </a:rPr>
              <a:t>• Paso 4: Acceso Permanente: </a:t>
            </a:r>
            <a:r>
              <a:rPr sz="1000">
                <a:solidFill>
                  <a:srgbClr val="FFFFFF"/>
                </a:solidFill>
              </a:rPr>
              <a:t>Opción de «Agregar a Pantalla de Inicio» para jugar en visitas recurrentes.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iter_qr_ser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QR en Acrílico de Mesa + Pantalla del Comensal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CONTROL OPERATIVO • PANEL DEL GERENTE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5: Centro de Control Maestro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612"/>
                </a:solidFill>
              </a:defRPr>
            </a:pPr>
            <a:r>
              <a:t>⚙️ Vista General del Panel de Administración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• Menú Superior de Juegos: </a:t>
            </a:r>
            <a:r>
              <a:rPr sz="1000">
                <a:solidFill>
                  <a:srgbClr val="FFFFFF"/>
                </a:solidFill>
              </a:rPr>
              <a:t>Pestañas directas para Grids, Quinielas, Survivor, First Striker, Trivia y Bingo.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Switch Maestro «⚡ Auto-Aprobar»: </a:t>
            </a:r>
            <a:r>
              <a:rPr sz="1000">
                <a:solidFill>
                  <a:srgbClr val="FFFFFF"/>
                </a:solidFill>
              </a:rPr>
              <a:t>
  - ON: Comensales entran directo al escanear.
  - OFF: Clientes quedan en lista de espera hasta que el mesero valide consumo en mesa.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B0FF"/>
                </a:solidFill>
              </a:rPr>
              <a:t>• Selector Multitienda: </a:t>
            </a:r>
            <a:r>
              <a:rPr sz="1000">
                <a:solidFill>
                  <a:srgbClr val="FFFFFF"/>
                </a:solidFill>
              </a:rPr>
              <a:t>Switch rápido para operar Juriquilla, Álamos o Paseo Querétaro de manera independiente.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• Scorebug Oficial ESPN: </a:t>
            </a:r>
            <a:r>
              <a:rPr sz="1000">
                <a:solidFill>
                  <a:srgbClr val="FFFFFF"/>
                </a:solidFill>
              </a:rPr>
              <a:t>Reloj, cuarto y marcador en tiempo real conectado al satélite deportivo.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45461"/>
            <a:ext cx="4681728" cy="2681478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_panel_gri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00325"/>
            <a:ext cx="4572000" cy="2571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269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admin.html: Centro de Control Maestro para Gerentes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JUEGOS • FOOTBALL GRIDS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6: Juego 1 — Football Grids (100 Casillas NFL)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950">
                <a:solidFill>
                  <a:srgbClr val="FFB612"/>
                </a:solidFill>
              </a:rPr>
              <a:t>⚙️ Cómo se Crea (Admin en 30s): </a:t>
            </a:r>
            <a:r>
              <a:rPr sz="950">
                <a:solidFill>
                  <a:srgbClr val="FFFFFF"/>
                </a:solidFill>
              </a:rPr>
              <a:t>
1. En admin.html, seleccionar liga NFL y pulsar 🔍 Buscar Partidos.
2. Seleccionar el juego y presionar Crear Grid.
3. Antes del kickoff pulsar 🔒 Bloquear, luego 🎲 Generar Números (baraja 0 al 9 en ejes X e Y) y 👁️ Mostrar Números.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5722"/>
                </a:solidFill>
              </a:rPr>
              <a:t>📱 Cómo se Juega (Comensal): </a:t>
            </a:r>
            <a:r>
              <a:rPr sz="950">
                <a:solidFill>
                  <a:srgbClr val="FFFFFF"/>
                </a:solidFill>
              </a:rPr>
              <a:t>El cliente toca en su celular las casillas que desea apartar en la cuadrícula 10x10; quedan marcadas con su nombre.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E676"/>
                </a:solidFill>
              </a:rPr>
              <a:t>🏆 Cómo se Gana: </a:t>
            </a:r>
            <a:r>
              <a:rPr sz="950">
                <a:solidFill>
                  <a:srgbClr val="FFFFFF"/>
                </a:solidFill>
              </a:rPr>
              <a:t>Al final de cada cuarto (1Q, Medio Tiempo, 3Q y Final), la app toma el último dígito del marcador oficial. La casilla donde se cruzan los números brilla en dorado y notifica al comensal en su pantalla.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B0FF"/>
                </a:solidFill>
              </a:rPr>
              <a:t>💡 Propuesta de Premios: </a:t>
            </a:r>
            <a:r>
              <a:rPr sz="950">
                <a:solidFill>
                  <a:srgbClr val="FFFFFF"/>
                </a:solidFill>
              </a:rPr>
              <a:t>4 ganadores por partido (1Q: Botana / Halftime: Ronda o tarro de cerveza / 3Q: Orden de boneless / Final: Certificado de regalo o cortesía estelar).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26108" y="1408176"/>
            <a:ext cx="2835783" cy="4956048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rjeta_2_vive_la_nf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72" y="1463040"/>
            <a:ext cx="2726055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80972" y="6364224"/>
            <a:ext cx="2726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Tablero de 100 Casillas NFL y Premios por Cuarto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JUEGOS • QUINIELAS &amp; PICK'EM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7: Juego 2 — Quinielas &amp; Pick’em Deportivo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950">
                <a:solidFill>
                  <a:srgbClr val="FFB612"/>
                </a:solidFill>
              </a:rPr>
              <a:t>⚙️ Cómo se Crea (Admin en 45s): </a:t>
            </a:r>
            <a:r>
              <a:rPr sz="950">
                <a:solidFill>
                  <a:srgbClr val="FFFFFF"/>
                </a:solidFill>
              </a:rPr>
              <a:t>
1. Asignar nombre (ej. «Liga MX Jornada 8 Juriquilla»).
2. Seleccionar deporte y rango de fechas (7 a 30 días) y pulsar 🔍 Buscar Partidos. Importa escudos y horarios de ESPN en bloque.
3. Clic en Crear Quiniela y pulsar 🔒 Bloquear al iniciar el primer partido.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5722"/>
                </a:solidFill>
              </a:rPr>
              <a:t>📱 Cómo se Juega (Comensal): </a:t>
            </a:r>
            <a:r>
              <a:rPr sz="950">
                <a:solidFill>
                  <a:srgbClr val="FFFFFF"/>
                </a:solidFill>
              </a:rPr>
              <a:t>Ingresa sus pronósticos (marcador exacto o ganador simple). Sigue la Tabla de Posiciones en Vivo viendo cómo sube en el ranking jugada a jugada.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E676"/>
                </a:solidFill>
              </a:rPr>
              <a:t>🏆 Cómo se Gana: </a:t>
            </a:r>
            <a:r>
              <a:rPr sz="950">
                <a:solidFill>
                  <a:srgbClr val="FFFFFF"/>
                </a:solidFill>
              </a:rPr>
              <a:t>
• 🟩 +3 Puntos: Marcador exacto (tarjeta verde esmeralda).
• 🟨 +1 Punto: Acierto al ganador (medalla dorada).
Al concluir la jornada, 🔄 Sincronizar ESPN evalúa la tabla y corona automáticamente el podio (1°, 2° y 3° lugar).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B0FF"/>
                </a:solidFill>
              </a:rPr>
              <a:t>💡 Propuesta Comercial: </a:t>
            </a:r>
            <a:r>
              <a:rPr sz="950">
                <a:solidFill>
                  <a:srgbClr val="FFFFFF"/>
                </a:solidFill>
              </a:rPr>
              <a:t>El premio mayor se entrega como cupón canjeable de lunes a jueves, garantizando aforo entre semana.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011912"/>
            <a:ext cx="4681728" cy="3748575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iniela_live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066776"/>
            <a:ext cx="4572000" cy="3638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76048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Tarjetas de Pronóstico y Puntuación Verde (+3) y Oro (+1)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JUEGOS • SURVIVOR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8: Juego 3 — Survivor Multi-Semana (Retención Total)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950">
                <a:solidFill>
                  <a:srgbClr val="FFB612"/>
                </a:solidFill>
              </a:rPr>
              <a:t>⚙️ Cómo se Crea (Admin): </a:t>
            </a:r>
            <a:r>
              <a:rPr sz="950">
                <a:solidFill>
                  <a:srgbClr val="FFFFFF"/>
                </a:solidFill>
              </a:rPr>
              <a:t>
1. Clic en ➕ Crear Nuevo Survivor (ej. «Survivor NFL Temporada Regular»).
2. Cada semana se bloquea antes de los partidos.
3. Al terminar la semana, pulsar ⚡ Evaluar Survivor con ESPN: la app contrasta marcadores y elimina automáticamente a quienes fallaron.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5722"/>
                </a:solidFill>
              </a:rPr>
              <a:t>📱 Cómo se Juega (Comensal): </a:t>
            </a:r>
            <a:r>
              <a:rPr sz="950">
                <a:solidFill>
                  <a:srgbClr val="FFFFFF"/>
                </a:solidFill>
              </a:rPr>
              <a:t>
• Regla de Oro: Elige un equipo por semana. Si gana, avanzas; si empata o pierde, quedas ELIMINADO.
• No Repetición: No puedes volver a seleccionar a un equipo que ya utilizaste en semanas anteriores.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E676"/>
                </a:solidFill>
              </a:rPr>
              <a:t>🏆 Cómo se Gana: </a:t>
            </a:r>
            <a:r>
              <a:rPr sz="950">
                <a:solidFill>
                  <a:srgbClr val="FFFFFF"/>
                </a:solidFill>
              </a:rPr>
              <a:t>Gana el último comensal que sobreviva al corte final de las semanas.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B0FF"/>
                </a:solidFill>
              </a:rPr>
              <a:t>💡 Propuesta Comercial: </a:t>
            </a:r>
            <a:r>
              <a:rPr sz="950">
                <a:solidFill>
                  <a:srgbClr val="FFFFFF"/>
                </a:solidFill>
              </a:rPr>
              <a:t>Genera un compromiso semanal donde los sobrevivientes regresan cada domingo al restaurante para no perderse a su equipo.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43982" y="1408176"/>
            <a:ext cx="4000035" cy="4956048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rvivo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846" y="1463040"/>
            <a:ext cx="3890307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8846" y="6364224"/>
            <a:ext cx="389030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Panel de Sobrevivientes Activos vs Eliminados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JUEGOS • FIRST STRIKER WINS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9: Juego 4 — First Striker Wins (El Minuto del Primer Gol)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950">
                <a:solidFill>
                  <a:srgbClr val="FFB612"/>
                </a:solidFill>
              </a:rPr>
              <a:t>⚙️ Cómo se Crea (Admin en 15s): </a:t>
            </a:r>
            <a:r>
              <a:rPr sz="950">
                <a:solidFill>
                  <a:srgbClr val="FFFFFF"/>
                </a:solidFill>
              </a:rPr>
              <a:t>En un partido de fútbol (Liga MX, Champions, Clásicos), presionar Crear Juego Minuto del Gol. Genera los bloques automáticos: 0-15', 16-30', 31-45', 46-60', 61-75', 76-90' y Sin Gol.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5722"/>
                </a:solidFill>
              </a:rPr>
              <a:t>📱 Cómo se Juega (Comensal): </a:t>
            </a:r>
            <a:r>
              <a:rPr sz="950">
                <a:solidFill>
                  <a:srgbClr val="FFFFFF"/>
                </a:solidFill>
              </a:rPr>
              <a:t>El cliente elige el bloque en el que caerá el primer gol antes del silbatazo inicial. No requiere esperar 90 minutos para festejar.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E676"/>
                </a:solidFill>
              </a:rPr>
              <a:t>🏆 Cómo se Gana: </a:t>
            </a:r>
            <a:r>
              <a:rPr sz="950">
                <a:solidFill>
                  <a:srgbClr val="FFFFFF"/>
                </a:solidFill>
              </a:rPr>
              <a:t>Al caer el gol, pulsar ⚡ Detectar 1er Gol en Vivo (ESPN). Si el gol cae al minuto 12, gana la mesa con el bloque 0-15'. (Aplica regla de cercanía si nadie lo tenía).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B0FF"/>
                </a:solidFill>
              </a:rPr>
              <a:t>💡 Propuesta Comercial: </a:t>
            </a:r>
            <a:r>
              <a:rPr sz="950">
                <a:solidFill>
                  <a:srgbClr val="FFFFFF"/>
                </a:solidFill>
              </a:rPr>
              <a:t>Entrega un premio rápido (shots, papas) al arranque del juego. Ganar temprano pone de excelente humor a la mesa y detona consumo en cascada durante el resto del partido.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625828"/>
            <a:ext cx="4681728" cy="2520743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rst_striker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80692"/>
            <a:ext cx="4572000" cy="2411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1465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Planilla de Bloques de 15 Minutos y Detección ESPN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JUEGOS • TRIVIA CON IA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10: Juego 5 — Trivia Deportiva en Vivo con 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950">
                <a:solidFill>
                  <a:srgbClr val="FFB612"/>
                </a:solidFill>
              </a:rPr>
              <a:t>⚙️ Cómo se Crea (Admin en 10s con IA): </a:t>
            </a:r>
            <a:r>
              <a:rPr sz="950">
                <a:solidFill>
                  <a:srgbClr val="FFFFFF"/>
                </a:solidFill>
              </a:rPr>
              <a:t>
1. Clic en ✨ Crear Trivia con IA, teclear el tema (ej. «Clásico Nacional» o «Super Bowl»). Gemini genera de 5 a 10 preguntas con respuestas verificadas.
2. Clic en 🖥️ Abrir Pantalla de TV para proyectar el PIN y QR gigante en las pantallas del restaurante.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5722"/>
                </a:solidFill>
              </a:rPr>
              <a:t>📱 Cómo se Juega (Comensal): </a:t>
            </a:r>
            <a:r>
              <a:rPr sz="950">
                <a:solidFill>
                  <a:srgbClr val="FFFFFF"/>
                </a:solidFill>
              </a:rPr>
              <a:t>El cliente ingresa con el PIN desde su mesa; su celular muestra 4 botones de colores y un temporizador de 15 segundos. Bonifica por acierto y velocidad.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E676"/>
                </a:solidFill>
              </a:rPr>
              <a:t>🏆 Cómo se Gana: </a:t>
            </a:r>
            <a:r>
              <a:rPr sz="950">
                <a:solidFill>
                  <a:srgbClr val="FFFFFF"/>
                </a:solidFill>
              </a:rPr>
              <a:t>El gerente presiona 🏆 Revelar Podio Final y las pantallas del restaurante proyectan a los 3 ganadores con fuegos artificiales digitales.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B0FF"/>
                </a:solidFill>
              </a:rPr>
              <a:t>💡 Propuesta Comercial: </a:t>
            </a:r>
            <a:r>
              <a:rPr sz="950">
                <a:solidFill>
                  <a:srgbClr val="FFFFFF"/>
                </a:solidFill>
              </a:rPr>
              <a:t>Activa los medios tiempos de los partidos (momento muerto donde suele caer el consumo) manteniendo a la gente atenta y pidiendo rondas extra.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625828"/>
            <a:ext cx="4681728" cy="2520743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rst_striker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80692"/>
            <a:ext cx="4572000" cy="2411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1465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Pantalla Proyectada de TV y Podio de Ganadores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HERRAMIENTAS • BINGO &amp; MARKETING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11: Herramientas Adicionales — GameDay Bingo y Marketing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🎯 GameDay Bingo (Cartón 5x5): </a:t>
            </a:r>
            <a:r>
              <a:rPr sz="1000">
                <a:solidFill>
                  <a:srgbClr val="FFFFFF"/>
                </a:solidFill>
              </a:rPr>
              <a:t>Casillas con sucesos reales (Touchdown largo, Gol de tiro libre, VAR, Tarjeta roja). Se valida con ESPN y el primer cliente en completar canta ¡BINGO! desde su celular.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🎨 Generador de Material Gráfico: </a:t>
            </a:r>
            <a:r>
              <a:rPr sz="1000">
                <a:solidFill>
                  <a:srgbClr val="FFFFFF"/>
                </a:solidFill>
              </a:rPr>
              <a:t>Módulo interno para gerencia que genera artes en alta resolución con el QR de la sucursal listos para imprimir acrílicos o publicar en historias de WhatsApp e Instagram.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📲 Invitaciones Automáticas: </a:t>
            </a:r>
            <a:r>
              <a:rPr sz="1000">
                <a:solidFill>
                  <a:srgbClr val="FFFFFF"/>
                </a:solidFill>
              </a:rPr>
              <a:t>Enlaces directos para compartir en grupos de WhatsApp de comunidades y comensales frecuentes.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26108" y="1408176"/>
            <a:ext cx="2835783" cy="4956048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rjeta_1_que_es_drinks_and_w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72" y="1463040"/>
            <a:ext cx="2726055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80972" y="6364224"/>
            <a:ext cx="2726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Cartón Interactivo 5x5 y Material de Difusión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RENTABILIDAD &amp; COSTO • ESTRATEGIA DE PREMIOS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12: Ingeniería Financiera de Premios (Alto Valor, Bajo Costo)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🍗 Bajo Food Cost Real (&lt;20%-25%): </a:t>
            </a:r>
            <a:r>
              <a:rPr sz="1000">
                <a:solidFill>
                  <a:srgbClr val="FFFFFF"/>
                </a:solidFill>
              </a:rPr>
              <a:t>Se premia con insumos de alto valor percibido: tarros de cerveza, shots, órdenes de papas o alitas de cortesía. Nunca se regala efectivo.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🍻 El «Efecto Mesa Ganadora»: </a:t>
            </a:r>
            <a:r>
              <a:rPr sz="1000">
                <a:solidFill>
                  <a:srgbClr val="FFFFFF"/>
                </a:solidFill>
              </a:rPr>
              <a:t>Nadie va solo a cobrar un premio. El ganador invita a 2 a 4 amigos a su mesa. Mientras él consume su cortesía de bajo costo ($40-$60 pesos), sus acompañantes piden alimentos y bebidas pagadas, generando cuentas de $800 a $1,500 pesos.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🎟️ Tráfico Garantizado Entre Semana: </a:t>
            </a:r>
            <a:r>
              <a:rPr sz="1000">
                <a:solidFill>
                  <a:srgbClr val="FFFFFF"/>
                </a:solidFill>
              </a:rPr>
              <a:t>Los premios mayores de quinielas y torneos se entregan como cupones válidos únicamente de lunes a jueves, levantando los días tradicionalmente tranquilos.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ns_celebrating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El «Efecto Mesa Ganadora»: Una Cortesía Detona Cuentas Completas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EQUIPO &amp; SERVICIO • EL FACTOR HUMANO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13: El Factor Humano — Gamificación del Servicio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📱 Atribución Directa al Colaborador: </a:t>
            </a:r>
            <a:r>
              <a:rPr sz="1000">
                <a:solidFill>
                  <a:srgbClr val="FFFFFF"/>
                </a:solidFill>
              </a:rPr>
              <a:t>El comensal registra el nombre de su mesero. Esto permite a la gerencia identificar y premiar al personal que más promueve la dinámica.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💵 Aumento en Cuentas y Propinas: </a:t>
            </a:r>
            <a:r>
              <a:rPr sz="1000">
                <a:solidFill>
                  <a:srgbClr val="FFFFFF"/>
                </a:solidFill>
              </a:rPr>
              <a:t>Un cliente entretenido se queda más tiempo y pide 1 o 2 rondas adicionales. Esto se traduce en tickets más altos y mejores propinas para el equipo de piso.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B0FF"/>
                </a:solidFill>
              </a:rPr>
              <a:t>🤝 Excelente Rompehielos: </a:t>
            </a:r>
            <a:r>
              <a:rPr sz="1000">
                <a:solidFill>
                  <a:srgbClr val="FFFFFF"/>
                </a:solidFill>
              </a:rPr>
              <a:t>El mesero no llega a presionar venta; llega ofreciendo un juego gratuito de la casa, generando simpatía y mejores reseñas en Google.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iter_qr_ser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Meseros Motivados: Mejor Servicio y Mayores Propinas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IMPACTO EN NEGOCIO • MÉTRICAS Y RETORNO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14: Retorno de Inversión (KPIs Clave)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743200" cy="228600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B612"/>
                </a:solidFill>
              </a:defRPr>
            </a:pPr>
            <a:r>
              <a:t>+22%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TICKET PROMEDIO</a:t>
            </a:r>
          </a:p>
          <a:p>
            <a:pPr algn="ctr">
              <a:defRPr sz="950">
                <a:solidFill>
                  <a:srgbClr val="9CADC4"/>
                </a:solidFill>
              </a:defRPr>
            </a:pPr>
            <a:r>
              <a:t>Mayor rotación de tarros y botanas por mesa durante las transmisiones.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1463040"/>
            <a:ext cx="2743200" cy="228600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160020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E676"/>
                </a:solidFill>
              </a:defRPr>
            </a:pPr>
            <a:r>
              <a:t>+35%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TIEMPO DE ESTANCIA</a:t>
            </a:r>
          </a:p>
          <a:p>
            <a:pPr algn="ctr">
              <a:defRPr sz="950">
                <a:solidFill>
                  <a:srgbClr val="9CADC4"/>
                </a:solidFill>
              </a:defRPr>
            </a:pPr>
            <a:r>
              <a:t>Los comensales se quedan hasta el final del evento para ver si ganaron.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2743200" cy="228600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5722"/>
                </a:solidFill>
              </a:defRPr>
            </a:pPr>
            <a:r>
              <a:t>3x a 4x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RETENCIÓN</a:t>
            </a:r>
          </a:p>
          <a:p>
            <a:pPr algn="ctr">
              <a:defRPr sz="950">
                <a:solidFill>
                  <a:srgbClr val="9CADC4"/>
                </a:solidFill>
              </a:defRPr>
            </a:pPr>
            <a:r>
              <a:t>Fanáticos recurrentes que regresan cada semana por su revancha o por el Survivor.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3931920"/>
            <a:ext cx="2743200" cy="228600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406908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B0FF"/>
                </a:solidFill>
              </a:defRPr>
            </a:pPr>
            <a:r>
              <a:t>$0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GASTO EN PAPEL</a:t>
            </a:r>
          </a:p>
          <a:p>
            <a:pPr algn="ctr">
              <a:defRPr sz="950">
                <a:solidFill>
                  <a:srgbClr val="9CADC4"/>
                </a:solidFill>
              </a:defRPr>
            </a:pPr>
            <a:r>
              <a:t>Cero impresiones, hojas mojadas ni plumones en las mesas.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3136" y="250970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orts_bar_atmosphe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64573"/>
            <a:ext cx="4572000" cy="25518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17125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Impacto Directo en Facturación y Rentabilidad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PLAN DE ACCIÓN • CONCLUSIÓN EN JURIQUILLA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Lámina 15: Plan de Activación en Juriquilla y Conclusión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🚀 Cuatro Pasos para la Activación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B612"/>
                </a:solidFill>
              </a:rPr>
              <a:t>• Paso 1: Display Acrílico en Mesas: </a:t>
            </a:r>
            <a:r>
              <a:rPr sz="1000">
                <a:solidFill>
                  <a:srgbClr val="FFFFFF"/>
                </a:solidFill>
              </a:rPr>
              <a:t>Colocación de display acrílico con código QR en mesas estratégicas de Juriquilla.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F5722"/>
                </a:solidFill>
              </a:rPr>
              <a:t>• Paso 2: Charla Operativa (15 Min): </a:t>
            </a:r>
            <a:r>
              <a:rPr sz="1000">
                <a:solidFill>
                  <a:srgbClr val="FFFFFF"/>
                </a:solidFill>
              </a:rPr>
              <a:t>Charla operativa de 15 minutos con capitanes y meseros para alinear el onboarding.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E676"/>
                </a:solidFill>
              </a:rPr>
              <a:t>• Paso 3: Estreno con Steelers Nation: </a:t>
            </a:r>
            <a:r>
              <a:rPr sz="1000">
                <a:solidFill>
                  <a:srgbClr val="FFFFFF"/>
                </a:solidFill>
              </a:rPr>
              <a:t>Activación estelar con Steelers Nation Querétaro y partidos de fin de semana.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B0FF"/>
                </a:solidFill>
              </a:rPr>
              <a:t>• Paso 4: Medir y Escalar: </a:t>
            </a:r>
            <a:r>
              <a:rPr sz="1000">
                <a:solidFill>
                  <a:srgbClr val="FFFFFF"/>
                </a:solidFill>
              </a:rPr>
              <a:t>Medición conjunta con Dirección y escalamiento a sucursales Álamos y Paseo Qro.</a:t>
            </a:r>
          </a:p>
          <a:p>
            <a:pPr algn="ctr">
              <a:spcBef>
                <a:spcPts val="1400"/>
              </a:spcBef>
              <a:defRPr sz="1150" b="1">
                <a:solidFill>
                  <a:srgbClr val="FFD100"/>
                </a:solidFill>
              </a:defRPr>
            </a:pPr>
            <a:r>
              <a:t>«Drinks &amp; Wins no es un gasto; es una herramienta de ventas, lealtad y servicio creada desde la operación real del restaurante.»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3136" y="2555429"/>
            <a:ext cx="4681728" cy="2661541"/>
          </a:xfrm>
          <a:prstGeom prst="roundRect">
            <a:avLst/>
          </a:prstGeom>
          <a:solidFill>
            <a:srgbClr val="1017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ns_celebrating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10293"/>
            <a:ext cx="4572000" cy="2551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21697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FD100"/>
                </a:solidFill>
              </a:defRPr>
            </a:pPr>
            <a:r>
              <a:t>Hagamos de Cada Partido una Fiesta en Juriquilla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