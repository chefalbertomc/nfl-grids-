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Rounded Rectangle 1"/>
          <p:cNvSpPr/>
          <p:nvPr/>
        </p:nvSpPr>
        <p:spPr>
          <a:xfrm>
            <a:off x="731520" y="731520"/>
            <a:ext cx="10728655" cy="5394960"/>
          </a:xfrm>
          <a:prstGeom prst="roundRect">
            <a:avLst/>
          </a:prstGeom>
          <a:solidFill>
            <a:srgbClr val="141A26"/>
          </a:solidFill>
          <a:ln w="19050">
            <a:solidFill>
              <a:srgbClr val="FFB6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jpg"/>
          <p:cNvPicPr>
            <a:picLocks noChangeAspect="1"/>
          </p:cNvPicPr>
          <p:nvPr/>
        </p:nvPicPr>
        <p:blipFill>
          <a:blip r:embed="rId2"/>
          <a:stretch>
            <a:fillRect/>
          </a:stretch>
        </p:blipFill>
        <p:spPr>
          <a:xfrm>
            <a:off x="1188720" y="1188720"/>
            <a:ext cx="850821" cy="1097280"/>
          </a:xfrm>
          <a:prstGeom prst="rect">
            <a:avLst/>
          </a:prstGeom>
        </p:spPr>
      </p:pic>
      <p:sp>
        <p:nvSpPr>
          <p:cNvPr id="4" name="TextBox 3"/>
          <p:cNvSpPr txBox="1"/>
          <p:nvPr/>
        </p:nvSpPr>
        <p:spPr>
          <a:xfrm>
            <a:off x="1188720" y="2468880"/>
            <a:ext cx="9601200" cy="3291840"/>
          </a:xfrm>
          <a:prstGeom prst="rect">
            <a:avLst/>
          </a:prstGeom>
          <a:noFill/>
        </p:spPr>
        <p:txBody>
          <a:bodyPr wrap="square">
            <a:spAutoFit/>
          </a:bodyPr>
          <a:lstStyle/>
          <a:p>
            <a:pPr>
              <a:spcAft>
                <a:spcPts val="600"/>
              </a:spcAft>
              <a:defRPr sz="1200" b="1">
                <a:solidFill>
                  <a:srgbClr val="FFB612"/>
                </a:solidFill>
              </a:defRPr>
            </a:pPr>
            <a:r>
              <a:t>PROYECTO DE GAMIFICACIÓN EN MESA • DE LA BARRA A LA OPERACIÓN</a:t>
            </a:r>
          </a:p>
          <a:p>
            <a:pPr>
              <a:spcAft>
                <a:spcPts val="800"/>
              </a:spcAft>
              <a:defRPr sz="4400" b="1">
                <a:solidFill>
                  <a:srgbClr val="FFFFFF"/>
                </a:solidFill>
              </a:defRPr>
            </a:pPr>
            <a:r>
              <a:t>DRINKS &amp; WINS</a:t>
            </a:r>
          </a:p>
          <a:p>
            <a:pPr>
              <a:spcAft>
                <a:spcPts val="1800"/>
              </a:spcAft>
              <a:defRPr sz="1900">
                <a:solidFill>
                  <a:srgbClr val="FFD100"/>
                </a:solidFill>
              </a:defRPr>
            </a:pPr>
            <a:r>
              <a:t>La Plataforma Deportiva que Convierte Comensales en Fanáticos Recurrentes</a:t>
            </a:r>
          </a:p>
          <a:p>
            <a:pPr>
              <a:spcAft>
                <a:spcPts val="400"/>
              </a:spcAft>
              <a:defRPr sz="1350">
                <a:solidFill>
                  <a:srgbClr val="FFFFFF"/>
                </a:solidFill>
              </a:defRPr>
            </a:pPr>
            <a:r>
              <a:t>Presentado por Beto Muñoz • Para el Dueño de la Marca, Dirección General y Gerencia</a:t>
            </a:r>
          </a:p>
          <a:p>
            <a:pPr>
              <a:defRPr sz="1200" i="1">
                <a:solidFill>
                  <a:srgbClr val="94A3B8"/>
                </a:solidFill>
              </a:defRPr>
            </a:pPr>
            <a:r>
              <a:t>«Nacido del cariño al lugar de trabajo, a los clientes y a las propinas que sacan adelante a mi familia»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spcAft>
                <a:spcPts val="200"/>
              </a:spcAft>
              <a:defRPr sz="1000" b="1">
                <a:solidFill>
                  <a:srgbClr val="FFB612"/>
                </a:solidFill>
              </a:defRPr>
            </a:pPr>
            <a:r>
              <a:t>HISTORIA REAL • MOTIVACIÓN Y PROPÓSITO</a:t>
            </a:r>
          </a:p>
          <a:p>
            <a:pPr>
              <a:defRPr sz="2300" b="1">
                <a:solidFill>
                  <a:srgbClr val="FFFFFF"/>
                </a:solidFill>
              </a:defRPr>
            </a:pPr>
            <a:r>
              <a:t>El Corazón del Proyecto: La Historia de un Barman en Álamos</a:t>
            </a:r>
          </a:p>
        </p:txBody>
      </p:sp>
      <p:sp>
        <p:nvSpPr>
          <p:cNvPr id="3" name="Rounded Rectangle 2"/>
          <p:cNvSpPr/>
          <p:nvPr/>
        </p:nvSpPr>
        <p:spPr>
          <a:xfrm>
            <a:off x="731520" y="1645920"/>
            <a:ext cx="10728655"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828800"/>
            <a:ext cx="9966960" cy="4206240"/>
          </a:xfrm>
          <a:prstGeom prst="rect">
            <a:avLst/>
          </a:prstGeom>
          <a:noFill/>
        </p:spPr>
        <p:txBody>
          <a:bodyPr wrap="square">
            <a:spAutoFit/>
          </a:bodyPr>
          <a:lstStyle/>
          <a:p>
            <a:pPr>
              <a:spcAft>
                <a:spcPts val="1200"/>
              </a:spcAft>
              <a:defRPr sz="1700" b="1">
                <a:solidFill>
                  <a:srgbClr val="FFB612"/>
                </a:solidFill>
              </a:defRPr>
            </a:pPr>
            <a:r>
              <a:t>❤️ «El cliente debe estar contento: aún si su equipo pierde o el partido está aburrido»</a:t>
            </a:r>
          </a:p>
          <a:p>
            <a:pPr>
              <a:spcAft>
                <a:spcPts val="200"/>
              </a:spcAft>
              <a:defRPr sz="1400" b="1">
                <a:solidFill>
                  <a:srgbClr val="FFD100"/>
                </a:solidFill>
              </a:defRPr>
            </a:pPr>
            <a:r>
              <a:t>🍺 El Origen Detrás de la Barra en Álamos</a:t>
            </a:r>
          </a:p>
          <a:p>
            <a:pPr>
              <a:spcAft>
                <a:spcPts val="1000"/>
              </a:spcAft>
              <a:defRPr sz="1200">
                <a:solidFill>
                  <a:srgbClr val="FFFFFF"/>
                </a:solidFill>
              </a:defRPr>
            </a:pPr>
            <a:r>
              <a:t>Esto comenzó cuando yo era barman en la sucursal de Álamos. Mi meta siempre fue clara: que cada persona se fuera feliz del restaurante. Por naturaleza, al ser humano le fascina competir. Empecé a inventar quinielas y trivias entre las mesas; de repente, la gente no solo veía la tele, ¡estaban conviviendo, gritando y pidiendo más rondas!</a:t>
            </a:r>
          </a:p>
          <a:p>
            <a:pPr>
              <a:spcAft>
                <a:spcPts val="200"/>
              </a:spcAft>
              <a:defRPr sz="1400" b="1">
                <a:solidFill>
                  <a:srgbClr val="FFD100"/>
                </a:solidFill>
              </a:defRPr>
            </a:pPr>
            <a:r>
              <a:t>🙏 Una Comunidad Fiel que Impulsa a Mi Familia</a:t>
            </a:r>
          </a:p>
          <a:p>
            <a:pPr>
              <a:spcAft>
                <a:spcPts val="1000"/>
              </a:spcAft>
              <a:defRPr sz="1200">
                <a:solidFill>
                  <a:srgbClr val="FFFFFF"/>
                </a:solidFill>
              </a:defRPr>
            </a:pPr>
            <a:r>
              <a:t>Esas dinámicas crearon clientes tan frecuentes y leales que hasta el día de hoy me ven en la calle en Querétaro y me dicen con una sonrisa: '¡Beto, qué onda! ¿Para cuándo otra quiniela o trivia?'. Gracias a esos clientes y a las propinas que dejan en mesa, he podido sacar adelante a mi familia.</a:t>
            </a:r>
          </a:p>
          <a:p>
            <a:pPr>
              <a:spcAft>
                <a:spcPts val="200"/>
              </a:spcAft>
              <a:defRPr sz="1400" b="1">
                <a:solidFill>
                  <a:srgbClr val="FFD100"/>
                </a:solidFill>
              </a:defRPr>
            </a:pPr>
            <a:r>
              <a:t>💡 No Soy Programador ni Ingeniero: Soy Alguien que Ama Este Lugar</a:t>
            </a:r>
          </a:p>
          <a:p>
            <a:pPr>
              <a:spcAft>
                <a:spcPts val="1000"/>
              </a:spcAft>
              <a:defRPr sz="1200">
                <a:solidFill>
                  <a:srgbClr val="FFFFFF"/>
                </a:solidFill>
              </a:defRPr>
            </a:pPr>
            <a:r>
              <a:t>No soy desarrollador de software ni diseñador gráfico. Construí esta plataforma con todo el corazón, utilizando Inteligencia Artificial y herramientas modernas, por el inmenso cariño que le tengo a la marca y a este equipo.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spcAft>
                <a:spcPts val="200"/>
              </a:spcAft>
              <a:defRPr sz="1000" b="1">
                <a:solidFill>
                  <a:srgbClr val="FFB612"/>
                </a:solidFill>
              </a:defRPr>
            </a:pPr>
            <a:r>
              <a:t>SOLUCIÓN OPERATIVA</a:t>
            </a:r>
          </a:p>
          <a:p>
            <a:pPr>
              <a:defRPr sz="2300" b="1">
                <a:solidFill>
                  <a:srgbClr val="FFFFFF"/>
                </a:solidFill>
              </a:defRPr>
            </a:pPr>
            <a:r>
              <a:t>De Álamos a Juriquilla: El Reto Operativo y la Automatización</a:t>
            </a:r>
          </a:p>
        </p:txBody>
      </p:sp>
      <p:sp>
        <p:nvSpPr>
          <p:cNvPr id="3" name="Rounded Rectangle 2"/>
          <p:cNvSpPr/>
          <p:nvPr/>
        </p:nvSpPr>
        <p:spPr>
          <a:xfrm>
            <a:off x="731520" y="1645920"/>
            <a:ext cx="5212080"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4663440" cy="4206240"/>
          </a:xfrm>
          <a:prstGeom prst="rect">
            <a:avLst/>
          </a:prstGeom>
          <a:noFill/>
        </p:spPr>
        <p:txBody>
          <a:bodyPr wrap="square">
            <a:spAutoFit/>
          </a:bodyPr>
          <a:lstStyle/>
          <a:p>
            <a:pPr>
              <a:spcAft>
                <a:spcPts val="1000"/>
              </a:spcAft>
              <a:defRPr sz="1700" b="1">
                <a:solidFill>
                  <a:srgbClr val="FF5722"/>
                </a:solidFill>
              </a:defRPr>
            </a:pPr>
            <a:r>
              <a:t>⚠️ El Dilema Operativo Actual</a:t>
            </a:r>
          </a:p>
          <a:p>
            <a:pPr>
              <a:spcAft>
                <a:spcPts val="100"/>
              </a:spcAft>
              <a:defRPr sz="1300" b="1">
                <a:solidFill>
                  <a:srgbClr val="FFD100"/>
                </a:solidFill>
              </a:defRPr>
            </a:pPr>
            <a:r>
              <a:t>📍 Cambio a Juriquilla</a:t>
            </a:r>
          </a:p>
          <a:p>
            <a:pPr>
              <a:spcAft>
                <a:spcPts val="1000"/>
              </a:spcAft>
              <a:defRPr sz="1150">
                <a:solidFill>
                  <a:srgbClr val="FFFFFF"/>
                </a:solidFill>
              </a:defRPr>
            </a:pPr>
            <a:r>
              <a:t>Ahora que estoy en Juriquilla, muchos comensales van buscando exactamente esas dinámicas divertidas que vivieron en Álamos.</a:t>
            </a:r>
          </a:p>
          <a:p>
            <a:pPr>
              <a:spcAft>
                <a:spcPts val="100"/>
              </a:spcAft>
              <a:defRPr sz="1300" b="1">
                <a:solidFill>
                  <a:srgbClr val="FFD100"/>
                </a:solidFill>
              </a:defRPr>
            </a:pPr>
            <a:r>
              <a:t>⏱️ La Operación No Puede Descuidarse</a:t>
            </a:r>
          </a:p>
          <a:p>
            <a:pPr>
              <a:spcAft>
                <a:spcPts val="1000"/>
              </a:spcAft>
              <a:defRPr sz="1150">
                <a:solidFill>
                  <a:srgbClr val="FFFFFF"/>
                </a:solidFill>
              </a:defRPr>
            </a:pPr>
            <a:r>
              <a:t>Hoy mis deberes ya no son solo atender la barra, sino estar pendiente de la operación completa del restaurante. Es imposible descuidar el servicio para andar contando papeletas de papel o sumando puntos a mano.</a:t>
            </a:r>
          </a:p>
        </p:txBody>
      </p:sp>
      <p:sp>
        <p:nvSpPr>
          <p:cNvPr id="5" name="Rounded Rectangle 4"/>
          <p:cNvSpPr/>
          <p:nvPr/>
        </p:nvSpPr>
        <p:spPr>
          <a:xfrm>
            <a:off x="6217920" y="1645920"/>
            <a:ext cx="5212080"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92240" y="1828800"/>
            <a:ext cx="4663440" cy="4206240"/>
          </a:xfrm>
          <a:prstGeom prst="rect">
            <a:avLst/>
          </a:prstGeom>
          <a:noFill/>
        </p:spPr>
        <p:txBody>
          <a:bodyPr wrap="square">
            <a:spAutoFit/>
          </a:bodyPr>
          <a:lstStyle/>
          <a:p>
            <a:pPr>
              <a:spcAft>
                <a:spcPts val="1000"/>
              </a:spcAft>
              <a:defRPr sz="1700" b="1">
                <a:solidFill>
                  <a:srgbClr val="00E676"/>
                </a:solidFill>
              </a:defRPr>
            </a:pPr>
            <a:r>
              <a:t>🤖 La Solución: 80% Autónoma con IA</a:t>
            </a:r>
          </a:p>
          <a:p>
            <a:pPr>
              <a:spcAft>
                <a:spcPts val="100"/>
              </a:spcAft>
              <a:defRPr sz="1300" b="1">
                <a:solidFill>
                  <a:srgbClr val="FFD100"/>
                </a:solidFill>
              </a:defRPr>
            </a:pPr>
            <a:r>
              <a:t>⚡ Cero Tiempo Perdido por el Gerente</a:t>
            </a:r>
          </a:p>
          <a:p>
            <a:pPr>
              <a:spcAft>
                <a:spcPts val="1000"/>
              </a:spcAft>
              <a:defRPr sz="1150">
                <a:solidFill>
                  <a:srgbClr val="FFFFFF"/>
                </a:solidFill>
              </a:defRPr>
            </a:pPr>
            <a:r>
              <a:t>La app se administra sola en un 80%. Se conecta en vivo a ESPN y calcula marcadores oficiales sin intervención humana.</a:t>
            </a:r>
          </a:p>
          <a:p>
            <a:pPr>
              <a:spcAft>
                <a:spcPts val="100"/>
              </a:spcAft>
              <a:defRPr sz="1300" b="1">
                <a:solidFill>
                  <a:srgbClr val="FFD100"/>
                </a:solidFill>
              </a:defRPr>
            </a:pPr>
            <a:r>
              <a:t>🧠 Creación con IA en Segundos</a:t>
            </a:r>
          </a:p>
          <a:p>
            <a:pPr>
              <a:spcAft>
                <a:spcPts val="1000"/>
              </a:spcAft>
              <a:defRPr sz="1150">
                <a:solidFill>
                  <a:srgbClr val="FFFFFF"/>
                </a:solidFill>
              </a:defRPr>
            </a:pPr>
            <a:r>
              <a:t>La IA genera trivias deportivas y redacta preguntas temáticas para días de partido en 10 segundos.</a:t>
            </a:r>
          </a:p>
          <a:p>
            <a:pPr>
              <a:spcAft>
                <a:spcPts val="100"/>
              </a:spcAft>
              <a:defRPr sz="1300" b="1">
                <a:solidFill>
                  <a:srgbClr val="FFD100"/>
                </a:solidFill>
              </a:defRPr>
            </a:pPr>
            <a:r>
              <a:t>📊 Cero Papel y Cero Errores</a:t>
            </a:r>
          </a:p>
          <a:p>
            <a:pPr>
              <a:spcAft>
                <a:spcPts val="1000"/>
              </a:spcAft>
              <a:defRPr sz="1150">
                <a:solidFill>
                  <a:srgbClr val="FFFFFF"/>
                </a:solidFill>
              </a:defRPr>
            </a:pPr>
            <a:r>
              <a:t>Elimina impresiones, plumas y quejas de clientes por conteos incorrectos. Todo es transparente y en vivo en el celular del cliente.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spcAft>
                <a:spcPts val="200"/>
              </a:spcAft>
              <a:defRPr sz="1000" b="1">
                <a:solidFill>
                  <a:srgbClr val="FFB612"/>
                </a:solidFill>
              </a:defRPr>
            </a:pPr>
            <a:r>
              <a:t>TRACCIÓN REAL EN QUERÉTARO</a:t>
            </a:r>
          </a:p>
          <a:p>
            <a:pPr>
              <a:defRPr sz="2300" b="1">
                <a:solidFill>
                  <a:srgbClr val="FFFFFF"/>
                </a:solidFill>
              </a:defRPr>
            </a:pPr>
            <a:r>
              <a:t>Potencial Inmediato: 71 Fans en 2 Semanas de una Base de +350</a:t>
            </a:r>
          </a:p>
        </p:txBody>
      </p:sp>
      <p:sp>
        <p:nvSpPr>
          <p:cNvPr id="3" name="Rounded Rectangle 2"/>
          <p:cNvSpPr/>
          <p:nvPr/>
        </p:nvSpPr>
        <p:spPr>
          <a:xfrm>
            <a:off x="731520" y="1645920"/>
            <a:ext cx="10728655"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828800"/>
            <a:ext cx="9966960" cy="4206240"/>
          </a:xfrm>
          <a:prstGeom prst="rect">
            <a:avLst/>
          </a:prstGeom>
          <a:noFill/>
        </p:spPr>
        <p:txBody>
          <a:bodyPr wrap="square">
            <a:spAutoFit/>
          </a:bodyPr>
          <a:lstStyle/>
          <a:p>
            <a:pPr>
              <a:spcAft>
                <a:spcPts val="1200"/>
              </a:spcAft>
              <a:defRPr sz="1700" b="1">
                <a:solidFill>
                  <a:srgbClr val="FFB612"/>
                </a:solidFill>
              </a:defRPr>
            </a:pPr>
            <a:r>
              <a:t>🏈 La Punta de Lanza: Steelers Nation Querétaro</a:t>
            </a:r>
          </a:p>
          <a:p>
            <a:pPr>
              <a:spcAft>
                <a:spcPts val="200"/>
              </a:spcAft>
              <a:defRPr sz="1400" b="1">
                <a:solidFill>
                  <a:srgbClr val="FFD100"/>
                </a:solidFill>
              </a:defRPr>
            </a:pPr>
            <a:r>
              <a:t>📈 Crecimiento Explosivo Orgánico</a:t>
            </a:r>
          </a:p>
          <a:p>
            <a:pPr>
              <a:spcAft>
                <a:spcPts val="1000"/>
              </a:spcAft>
              <a:defRPr sz="1200">
                <a:solidFill>
                  <a:srgbClr val="FFFFFF"/>
                </a:solidFill>
              </a:defRPr>
            </a:pPr>
            <a:r>
              <a:t>En tan solo 2 semanas desde el lanzamiento de la Credencial Digital de Steelers Nation QRO, ya se han registrado 71 miembros oficiales en la app. Pero son más de 350 fanáticos activos en la comunidad de Querétaro.</a:t>
            </a:r>
          </a:p>
          <a:p>
            <a:pPr>
              <a:spcAft>
                <a:spcPts val="200"/>
              </a:spcAft>
              <a:defRPr sz="1400" b="1">
                <a:solidFill>
                  <a:srgbClr val="FFD100"/>
                </a:solidFill>
              </a:defRPr>
            </a:pPr>
            <a:r>
              <a:t>📲 Conexión Directa desde su Credencial Digital (PWA)</a:t>
            </a:r>
          </a:p>
          <a:p>
            <a:pPr>
              <a:spcAft>
                <a:spcPts val="1000"/>
              </a:spcAft>
              <a:defRPr sz="1200">
                <a:solidFill>
                  <a:srgbClr val="FFFFFF"/>
                </a:solidFill>
              </a:defRPr>
            </a:pPr>
            <a:r>
              <a:t>La credencial digital de los fans tiene un botón especial integrado que los manda directamente a Drinks &amp; Wins para participar en las dinámicas de cada juego. Es una audiencia cautiva que ya ama la marca.</a:t>
            </a:r>
          </a:p>
          <a:p>
            <a:pPr>
              <a:spcAft>
                <a:spcPts val="200"/>
              </a:spcAft>
              <a:defRPr sz="1400" b="1">
                <a:solidFill>
                  <a:srgbClr val="FFD100"/>
                </a:solidFill>
              </a:defRPr>
            </a:pPr>
            <a:r>
              <a:t>🍻 Asistencia y Consumo Comprobado</a:t>
            </a:r>
          </a:p>
          <a:p>
            <a:pPr>
              <a:spcAft>
                <a:spcPts val="1000"/>
              </a:spcAft>
              <a:defRPr sz="1200">
                <a:solidFill>
                  <a:srgbClr val="FFFFFF"/>
                </a:solidFill>
              </a:defRPr>
            </a:pPr>
            <a:r>
              <a:t>Este grupo no viene solo por una cerveza: llenan mesas enteras, piden cubetazos, rondas continuas de alitas y se quedan durante toda la transmisión del partido. Es el motor perfecto para arrancar en Juriquilla.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spcAft>
                <a:spcPts val="200"/>
              </a:spcAft>
              <a:defRPr sz="1000" b="1">
                <a:solidFill>
                  <a:srgbClr val="FFB612"/>
                </a:solidFill>
              </a:defRPr>
            </a:pPr>
            <a:r>
              <a:t>EXPERIENCIA DE USUARIO SIN FRICCIÓN</a:t>
            </a:r>
          </a:p>
          <a:p>
            <a:pPr>
              <a:defRPr sz="2300" b="1">
                <a:solidFill>
                  <a:srgbClr val="FFFFFF"/>
                </a:solidFill>
              </a:defRPr>
            </a:pPr>
            <a:r>
              <a:t>Guía del Cliente: Cómo Ingresar, Registrarse e Instalar la App</a:t>
            </a:r>
          </a:p>
        </p:txBody>
      </p:sp>
      <p:sp>
        <p:nvSpPr>
          <p:cNvPr id="3" name="Rounded Rectangle 2"/>
          <p:cNvSpPr/>
          <p:nvPr/>
        </p:nvSpPr>
        <p:spPr>
          <a:xfrm>
            <a:off x="731520" y="1645920"/>
            <a:ext cx="3413455"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2864815" cy="4206240"/>
          </a:xfrm>
          <a:prstGeom prst="rect">
            <a:avLst/>
          </a:prstGeom>
          <a:noFill/>
        </p:spPr>
        <p:txBody>
          <a:bodyPr wrap="square">
            <a:spAutoFit/>
          </a:bodyPr>
          <a:lstStyle/>
          <a:p>
            <a:pPr>
              <a:spcAft>
                <a:spcPts val="1400"/>
              </a:spcAft>
              <a:defRPr sz="1600" b="1">
                <a:solidFill>
                  <a:srgbClr val="FFB612"/>
                </a:solidFill>
              </a:defRPr>
            </a:pPr>
            <a:r>
              <a:t>1. CÓMO INGRESA</a:t>
            </a:r>
          </a:p>
          <a:p>
            <a:pPr>
              <a:defRPr sz="1250">
                <a:solidFill>
                  <a:srgbClr val="FFFFFF"/>
                </a:solidFill>
              </a:defRPr>
            </a:pPr>
            <a:r>
              <a:t>📱 En su mesa encuentra el código QR en el acrílico.</a:t>
            </a:r>
            <a:br/>
            <a:r>
              <a:t>• Abre la cámara de su celular y apunta al QR.</a:t>
            </a:r>
            <a:br/>
            <a:r>
              <a:t>• Entra en 3 segundos en su navegador web sin descargas pesadas ni tiendas de aplicaciones.</a:t>
            </a:r>
          </a:p>
        </p:txBody>
      </p:sp>
      <p:sp>
        <p:nvSpPr>
          <p:cNvPr id="5" name="Rounded Rectangle 4"/>
          <p:cNvSpPr/>
          <p:nvPr/>
        </p:nvSpPr>
        <p:spPr>
          <a:xfrm>
            <a:off x="4389120" y="1645920"/>
            <a:ext cx="3413455"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63440" y="1828800"/>
            <a:ext cx="2864815" cy="4206240"/>
          </a:xfrm>
          <a:prstGeom prst="rect">
            <a:avLst/>
          </a:prstGeom>
          <a:noFill/>
        </p:spPr>
        <p:txBody>
          <a:bodyPr wrap="square">
            <a:spAutoFit/>
          </a:bodyPr>
          <a:lstStyle/>
          <a:p>
            <a:pPr>
              <a:spcAft>
                <a:spcPts val="1400"/>
              </a:spcAft>
              <a:defRPr sz="1600" b="1">
                <a:solidFill>
                  <a:srgbClr val="FF5722"/>
                </a:solidFill>
              </a:defRPr>
            </a:pPr>
            <a:r>
              <a:t>2. CÓMO SE REGISTRA</a:t>
            </a:r>
          </a:p>
          <a:p>
            <a:pPr>
              <a:defRPr sz="1250">
                <a:solidFill>
                  <a:srgbClr val="FFFFFF"/>
                </a:solidFill>
              </a:defRPr>
            </a:pPr>
            <a:r>
              <a:t>👤 Con un solo toque inicia sesión con su cuenta de Google o escribe su nombre/apodo.</a:t>
            </a:r>
            <a:br/>
            <a:r>
              <a:t>• Selecciona el nombre del mesero que lo atiende.</a:t>
            </a:r>
            <a:br/>
            <a:r>
              <a:t>• Todo queda guardado en la nube al instante.</a:t>
            </a:r>
          </a:p>
        </p:txBody>
      </p:sp>
      <p:sp>
        <p:nvSpPr>
          <p:cNvPr id="7" name="Rounded Rectangle 6"/>
          <p:cNvSpPr/>
          <p:nvPr/>
        </p:nvSpPr>
        <p:spPr>
          <a:xfrm>
            <a:off x="8046720" y="1645920"/>
            <a:ext cx="3413455"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21040" y="1828800"/>
            <a:ext cx="2864815" cy="4206240"/>
          </a:xfrm>
          <a:prstGeom prst="rect">
            <a:avLst/>
          </a:prstGeom>
          <a:noFill/>
        </p:spPr>
        <p:txBody>
          <a:bodyPr wrap="square">
            <a:spAutoFit/>
          </a:bodyPr>
          <a:lstStyle/>
          <a:p>
            <a:pPr>
              <a:spcAft>
                <a:spcPts val="1400"/>
              </a:spcAft>
              <a:defRPr sz="1600" b="1">
                <a:solidFill>
                  <a:srgbClr val="00E676"/>
                </a:solidFill>
              </a:defRPr>
            </a:pPr>
            <a:r>
              <a:t>3. CÓMO SE INSTALA (PWA)</a:t>
            </a:r>
          </a:p>
          <a:p>
            <a:pPr>
              <a:defRPr sz="1250">
                <a:solidFill>
                  <a:srgbClr val="FFFFFF"/>
                </a:solidFill>
              </a:defRPr>
            </a:pPr>
            <a:r>
              <a:t>📲 Se instala como una app nativa en 1 clic:</a:t>
            </a:r>
            <a:br/>
            <a:r>
              <a:t>• En iPhone: Compartir ➔ 'Agregar a pantalla de inicio'.</a:t>
            </a:r>
            <a:br/>
            <a:r>
              <a:t>• En Android: Toca el aviso 'Instalar App'.</a:t>
            </a:r>
            <a:br/>
            <a:r>
              <a:t>• ¡Queda el icono oficial en su celular para siempre!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spcAft>
                <a:spcPts val="200"/>
              </a:spcAft>
              <a:defRPr sz="1000" b="1">
                <a:solidFill>
                  <a:srgbClr val="FFB612"/>
                </a:solidFill>
              </a:defRPr>
            </a:pPr>
            <a:r>
              <a:t>JUEGO POR JUEGO EN DETALLE</a:t>
            </a:r>
          </a:p>
          <a:p>
            <a:pPr>
              <a:defRPr sz="2300" b="1">
                <a:solidFill>
                  <a:srgbClr val="FFFFFF"/>
                </a:solidFill>
              </a:defRPr>
            </a:pPr>
            <a:r>
              <a:t>Football Grids (100 Casillas NFL): Dinámica y Creación</a:t>
            </a:r>
          </a:p>
        </p:txBody>
      </p:sp>
      <p:sp>
        <p:nvSpPr>
          <p:cNvPr id="3" name="Rounded Rectangle 2"/>
          <p:cNvSpPr/>
          <p:nvPr/>
        </p:nvSpPr>
        <p:spPr>
          <a:xfrm>
            <a:off x="731520" y="1645920"/>
            <a:ext cx="6858000"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309360" cy="4206240"/>
          </a:xfrm>
          <a:prstGeom prst="rect">
            <a:avLst/>
          </a:prstGeom>
          <a:noFill/>
        </p:spPr>
        <p:txBody>
          <a:bodyPr wrap="square">
            <a:spAutoFit/>
          </a:bodyPr>
          <a:lstStyle/>
          <a:p>
            <a:pPr>
              <a:spcAft>
                <a:spcPts val="200"/>
              </a:spcAft>
              <a:defRPr sz="1350" b="1">
                <a:solidFill>
                  <a:srgbClr val="FF5722"/>
                </a:solidFill>
              </a:defRPr>
            </a:pPr>
            <a:r>
              <a:t>🛠️ CÓMO LO CREA EL GERENTE (30 segundos)</a:t>
            </a:r>
          </a:p>
          <a:p>
            <a:pPr>
              <a:spcAft>
                <a:spcPts val="1000"/>
              </a:spcAft>
              <a:defRPr sz="1150">
                <a:solidFill>
                  <a:srgbClr val="FFFFFF"/>
                </a:solidFill>
              </a:defRPr>
            </a:pPr>
            <a:r>
              <a:t>Entra al panel Admin, elige el partido estelar de la NFL (ej. Steelers vs Bills). Con un solo clic, el sistema genera la cuadrícula digital de 10x10 (100 casillas) con los logotipos oficiales de los dos equipos.</a:t>
            </a:r>
          </a:p>
          <a:p>
            <a:pPr>
              <a:spcAft>
                <a:spcPts val="200"/>
              </a:spcAft>
              <a:defRPr sz="1350" b="1">
                <a:solidFill>
                  <a:srgbClr val="FF5722"/>
                </a:solidFill>
              </a:defRPr>
            </a:pPr>
            <a:r>
              <a:t>📱 CÓMO JUEGA EL CLIENTE EN MESA</a:t>
            </a:r>
          </a:p>
          <a:p>
            <a:pPr>
              <a:spcAft>
                <a:spcPts val="1000"/>
              </a:spcAft>
              <a:defRPr sz="1150">
                <a:solidFill>
                  <a:srgbClr val="FFFFFF"/>
                </a:solidFill>
              </a:defRPr>
            </a:pPr>
            <a:r>
              <a:t>El comensal escanea el QR, ve la cuadrícula en su smartphone y toca las casillas vacías que desea apartar con su nombre o apodo para competir amistosamente con sus amigos.</a:t>
            </a:r>
          </a:p>
          <a:p>
            <a:pPr>
              <a:spcAft>
                <a:spcPts val="200"/>
              </a:spcAft>
              <a:defRPr sz="1350" b="1">
                <a:solidFill>
                  <a:srgbClr val="FF5722"/>
                </a:solidFill>
              </a:defRPr>
            </a:pPr>
            <a:r>
              <a:t>🏆 CÓMO GANA Y POR QUÉ VENDE TANTO</a:t>
            </a:r>
          </a:p>
          <a:p>
            <a:pPr>
              <a:spcAft>
                <a:spcPts val="1000"/>
              </a:spcAft>
              <a:defRPr sz="1150">
                <a:solidFill>
                  <a:srgbClr val="FFFFFF"/>
                </a:solidFill>
              </a:defRPr>
            </a:pPr>
            <a:r>
              <a:t>Al inicio del partido, el sistema sortea automáticamente los dígitos del 0 al 9 en filas y columnas. ¡Hay 4 GANADORES por partido! (Al final del 1Q, 2Q, 3Q y Final según el último dígito del marcador). Esto mantiene a la mesa consumiendo cervezas y botanas durante las 3 horas de transmisión.</a:t>
            </a:r>
          </a:p>
        </p:txBody>
      </p:sp>
      <p:pic>
        <p:nvPicPr>
          <p:cNvPr id="5" name="Picture 4" descr="tarjeta_2_vive_la_nfl.png"/>
          <p:cNvPicPr>
            <a:picLocks noChangeAspect="1"/>
          </p:cNvPicPr>
          <p:nvPr/>
        </p:nvPicPr>
        <p:blipFill>
          <a:blip r:embed="rId2"/>
          <a:stretch>
            <a:fillRect/>
          </a:stretch>
        </p:blipFill>
        <p:spPr>
          <a:xfrm>
            <a:off x="7955279" y="1645920"/>
            <a:ext cx="2623185" cy="466344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spcAft>
                <a:spcPts val="200"/>
              </a:spcAft>
              <a:defRPr sz="1000" b="1">
                <a:solidFill>
                  <a:srgbClr val="FFB612"/>
                </a:solidFill>
              </a:defRPr>
            </a:pPr>
            <a:r>
              <a:t>JUEGO POR JUEGO EN DETALLE</a:t>
            </a:r>
          </a:p>
          <a:p>
            <a:pPr>
              <a:defRPr sz="2300" b="1">
                <a:solidFill>
                  <a:srgbClr val="FFFFFF"/>
                </a:solidFill>
              </a:defRPr>
            </a:pPr>
            <a:r>
              <a:t>Quinielas Pick'em (NFL y Liga MX): Reglas y Resultados en Vivo</a:t>
            </a:r>
          </a:p>
        </p:txBody>
      </p:sp>
      <p:sp>
        <p:nvSpPr>
          <p:cNvPr id="3" name="Rounded Rectangle 2"/>
          <p:cNvSpPr/>
          <p:nvPr/>
        </p:nvSpPr>
        <p:spPr>
          <a:xfrm>
            <a:off x="731520" y="1645920"/>
            <a:ext cx="6858000"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309360" cy="4206240"/>
          </a:xfrm>
          <a:prstGeom prst="rect">
            <a:avLst/>
          </a:prstGeom>
          <a:noFill/>
        </p:spPr>
        <p:txBody>
          <a:bodyPr wrap="square">
            <a:spAutoFit/>
          </a:bodyPr>
          <a:lstStyle/>
          <a:p>
            <a:pPr>
              <a:spcAft>
                <a:spcPts val="200"/>
              </a:spcAft>
              <a:defRPr sz="1350" b="1">
                <a:solidFill>
                  <a:srgbClr val="FFB612"/>
                </a:solidFill>
              </a:defRPr>
            </a:pPr>
            <a:r>
              <a:t>🛠️ CÓMO LO CREA EL GERENTE (60 segundos)</a:t>
            </a:r>
          </a:p>
          <a:p>
            <a:pPr>
              <a:spcAft>
                <a:spcPts val="1000"/>
              </a:spcAft>
              <a:defRPr sz="1150">
                <a:solidFill>
                  <a:srgbClr val="FFFFFF"/>
                </a:solidFill>
              </a:defRPr>
            </a:pPr>
            <a:r>
              <a:t>Entra a Admin, elige la liga (NFL o Liga MX) y la jornada. La conexión con ESPN jala automáticamente partidos, horarios y escudos oficiales. El gerente toca los partidos deseados, define el premio (ej. Orden de Alitas + Cerveza) y presiona 'Crear Quiniela'.</a:t>
            </a:r>
          </a:p>
          <a:p>
            <a:pPr>
              <a:spcAft>
                <a:spcPts val="200"/>
              </a:spcAft>
              <a:defRPr sz="1350" b="1">
                <a:solidFill>
                  <a:srgbClr val="FFB612"/>
                </a:solidFill>
              </a:defRPr>
            </a:pPr>
            <a:r>
              <a:t>📱 CÓMO JUEGA EL CLIENTE</a:t>
            </a:r>
          </a:p>
          <a:p>
            <a:pPr>
              <a:spcAft>
                <a:spcPts val="1000"/>
              </a:spcAft>
              <a:defRPr sz="1150">
                <a:solidFill>
                  <a:srgbClr val="FFFFFF"/>
                </a:solidFill>
              </a:defRPr>
            </a:pPr>
            <a:r>
              <a:t>Abre la quiniela desde el QR, selecciona a su mesero e introduce sus pronósticos en pantalla. Se bloquean en automático cuando arranca el primer partido para garantizar 100% de transparencia.</a:t>
            </a:r>
          </a:p>
          <a:p>
            <a:pPr>
              <a:spcAft>
                <a:spcPts val="200"/>
              </a:spcAft>
              <a:defRPr sz="1350" b="1">
                <a:solidFill>
                  <a:srgbClr val="FFB612"/>
                </a:solidFill>
              </a:defRPr>
            </a:pPr>
            <a:r>
              <a:t>🏆 CÓMO GANA Y SE PREMIA</a:t>
            </a:r>
          </a:p>
          <a:p>
            <a:pPr>
              <a:spcAft>
                <a:spcPts val="1000"/>
              </a:spcAft>
              <a:defRPr sz="1150">
                <a:solidFill>
                  <a:srgbClr val="FFFFFF"/>
                </a:solidFill>
              </a:defRPr>
            </a:pPr>
            <a:r>
              <a:t>La API de ESPN actualiza la tabla en tiempo real: Marcador Exacto = +3 pts (verde esmeralda), Ganador = +1 pt (dorado), Fallo = 0 pts (rojo). Al terminar, se proclama al Campeón Oficial en el podio digital con corona 👑 para canje en barra.</a:t>
            </a:r>
          </a:p>
        </p:txBody>
      </p:sp>
      <p:pic>
        <p:nvPicPr>
          <p:cNvPr id="5" name="Picture 4" descr="screenshot_podium_standings.png"/>
          <p:cNvPicPr>
            <a:picLocks noChangeAspect="1"/>
          </p:cNvPicPr>
          <p:nvPr/>
        </p:nvPicPr>
        <p:blipFill>
          <a:blip r:embed="rId2"/>
          <a:stretch>
            <a:fillRect/>
          </a:stretch>
        </p:blipFill>
        <p:spPr>
          <a:xfrm>
            <a:off x="7863840" y="1645920"/>
            <a:ext cx="8843264" cy="466344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spcAft>
                <a:spcPts val="200"/>
              </a:spcAft>
              <a:defRPr sz="1000" b="1">
                <a:solidFill>
                  <a:srgbClr val="FFB612"/>
                </a:solidFill>
              </a:defRPr>
            </a:pPr>
            <a:r>
              <a:t>JUEGO POR JUEGO EN DETALLE</a:t>
            </a:r>
          </a:p>
          <a:p>
            <a:pPr>
              <a:defRPr sz="2300" b="1">
                <a:solidFill>
                  <a:srgbClr val="FFFFFF"/>
                </a:solidFill>
              </a:defRPr>
            </a:pPr>
            <a:r>
              <a:t>First Striker Wins (Fútbol): Adrenalina Inmediata en el Minuto 1</a:t>
            </a:r>
          </a:p>
        </p:txBody>
      </p:sp>
      <p:sp>
        <p:nvSpPr>
          <p:cNvPr id="3" name="Rounded Rectangle 2"/>
          <p:cNvSpPr/>
          <p:nvPr/>
        </p:nvSpPr>
        <p:spPr>
          <a:xfrm>
            <a:off x="731520" y="1645920"/>
            <a:ext cx="6858000"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309360" cy="4206240"/>
          </a:xfrm>
          <a:prstGeom prst="rect">
            <a:avLst/>
          </a:prstGeom>
          <a:noFill/>
        </p:spPr>
        <p:txBody>
          <a:bodyPr wrap="square">
            <a:spAutoFit/>
          </a:bodyPr>
          <a:lstStyle/>
          <a:p>
            <a:pPr>
              <a:spcAft>
                <a:spcPts val="200"/>
              </a:spcAft>
              <a:defRPr sz="1350" b="1">
                <a:solidFill>
                  <a:srgbClr val="00E676"/>
                </a:solidFill>
              </a:defRPr>
            </a:pPr>
            <a:r>
              <a:t>🛠️ CÓMO LO CREA EL GERENTE (30 segundos)</a:t>
            </a:r>
          </a:p>
          <a:p>
            <a:pPr>
              <a:spcAft>
                <a:spcPts val="1000"/>
              </a:spcAft>
              <a:defRPr sz="1150">
                <a:solidFill>
                  <a:srgbClr val="FFFFFF"/>
                </a:solidFill>
              </a:defRPr>
            </a:pPr>
            <a:r>
              <a:t>Elige el partido de fútbol (Liga MX, Champions League o Selección Nacional) y asigna un premio dinámico (ej. 1 ronda de cervezas o botana en mesa).</a:t>
            </a:r>
          </a:p>
          <a:p>
            <a:pPr>
              <a:spcAft>
                <a:spcPts val="200"/>
              </a:spcAft>
              <a:defRPr sz="1350" b="1">
                <a:solidFill>
                  <a:srgbClr val="00E676"/>
                </a:solidFill>
              </a:defRPr>
            </a:pPr>
            <a:r>
              <a:t>📱 CÓMO JUEGA EL CLIENTE</a:t>
            </a:r>
          </a:p>
          <a:p>
            <a:pPr>
              <a:spcAft>
                <a:spcPts val="1000"/>
              </a:spcAft>
              <a:defRPr sz="1150">
                <a:solidFill>
                  <a:srgbClr val="FFFFFF"/>
                </a:solidFill>
              </a:defRPr>
            </a:pPr>
            <a:r>
              <a:t>Elige qué equipo meterá el primer gol y en qué bloque de 15 minutos caerá (1-15', 16-30', 31-45', etc.), o la opción de 'Sin Goles en el Partido'.</a:t>
            </a:r>
          </a:p>
          <a:p>
            <a:pPr>
              <a:spcAft>
                <a:spcPts val="200"/>
              </a:spcAft>
              <a:defRPr sz="1350" b="1">
                <a:solidFill>
                  <a:srgbClr val="00E676"/>
                </a:solidFill>
              </a:defRPr>
            </a:pPr>
            <a:r>
              <a:t>🏆 CÓMO GANA: EUFORIA DESDE EL INICIO</a:t>
            </a:r>
          </a:p>
          <a:p>
            <a:pPr>
              <a:spcAft>
                <a:spcPts val="1000"/>
              </a:spcAft>
              <a:defRPr sz="1150">
                <a:solidFill>
                  <a:srgbClr val="FFFFFF"/>
                </a:solidFill>
              </a:defRPr>
            </a:pPr>
            <a:r>
              <a:t>En cuanto cae la primera anotación, el sistema valida el minuto oficial de juego. El comensal que acertó el bloque de tiempo gana en el acto, provocando festejos y más rondas de bebidas en su mesa.</a:t>
            </a:r>
          </a:p>
        </p:txBody>
      </p:sp>
      <p:pic>
        <p:nvPicPr>
          <p:cNvPr id="5" name="Picture 4" descr="tarjeta_3_instinto_goleador.png"/>
          <p:cNvPicPr>
            <a:picLocks noChangeAspect="1"/>
          </p:cNvPicPr>
          <p:nvPr/>
        </p:nvPicPr>
        <p:blipFill>
          <a:blip r:embed="rId2"/>
          <a:stretch>
            <a:fillRect/>
          </a:stretch>
        </p:blipFill>
        <p:spPr>
          <a:xfrm>
            <a:off x="7955279" y="1645920"/>
            <a:ext cx="2623185" cy="466344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spcAft>
                <a:spcPts val="200"/>
              </a:spcAft>
              <a:defRPr sz="1000" b="1">
                <a:solidFill>
                  <a:srgbClr val="FFB612"/>
                </a:solidFill>
              </a:defRPr>
            </a:pPr>
            <a:r>
              <a:t>JUEGO POR JUEGO EN DETALLE</a:t>
            </a:r>
          </a:p>
          <a:p>
            <a:pPr>
              <a:defRPr sz="2300" b="1">
                <a:solidFill>
                  <a:srgbClr val="FFFFFF"/>
                </a:solidFill>
              </a:defRPr>
            </a:pPr>
            <a:r>
              <a:t>Trivias en TV con IA &amp; Survivor NFL: Medios Tiempos y Fidelidad</a:t>
            </a:r>
          </a:p>
        </p:txBody>
      </p:sp>
      <p:sp>
        <p:nvSpPr>
          <p:cNvPr id="3" name="Rounded Rectangle 2"/>
          <p:cNvSpPr/>
          <p:nvPr/>
        </p:nvSpPr>
        <p:spPr>
          <a:xfrm>
            <a:off x="731520" y="1645920"/>
            <a:ext cx="5212080"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4663440" cy="4206240"/>
          </a:xfrm>
          <a:prstGeom prst="rect">
            <a:avLst/>
          </a:prstGeom>
          <a:noFill/>
        </p:spPr>
        <p:txBody>
          <a:bodyPr wrap="square">
            <a:spAutoFit/>
          </a:bodyPr>
          <a:lstStyle/>
          <a:p>
            <a:pPr>
              <a:spcAft>
                <a:spcPts val="800"/>
              </a:spcAft>
              <a:defRPr sz="1650" b="1">
                <a:solidFill>
                  <a:srgbClr val="FFB612"/>
                </a:solidFill>
              </a:defRPr>
            </a:pPr>
            <a:r>
              <a:t>🧠 Trivia en Pantallas de TV con IA</a:t>
            </a:r>
          </a:p>
          <a:p>
            <a:pPr>
              <a:spcAft>
                <a:spcPts val="100"/>
              </a:spcAft>
              <a:defRPr sz="1250" b="1">
                <a:solidFill>
                  <a:srgbClr val="FF5722"/>
                </a:solidFill>
              </a:defRPr>
            </a:pPr>
            <a:r>
              <a:t>🛠️ Generación IA en 10 seg</a:t>
            </a:r>
          </a:p>
          <a:p>
            <a:pPr>
              <a:spcAft>
                <a:spcPts val="600"/>
              </a:spcAft>
              <a:defRPr sz="1100">
                <a:solidFill>
                  <a:srgbClr val="FFFFFF"/>
                </a:solidFill>
              </a:defRPr>
            </a:pPr>
            <a:r>
              <a:t>La Inteligencia Artificial genera 10 preguntas deportivas temáticas del partido en cuestión.</a:t>
            </a:r>
          </a:p>
          <a:p>
            <a:pPr>
              <a:spcAft>
                <a:spcPts val="100"/>
              </a:spcAft>
              <a:defRPr sz="1250" b="1">
                <a:solidFill>
                  <a:srgbClr val="FF5722"/>
                </a:solidFill>
              </a:defRPr>
            </a:pPr>
            <a:r>
              <a:t>📱 Medio Tiempo Interactivo</a:t>
            </a:r>
          </a:p>
          <a:p>
            <a:pPr>
              <a:spcAft>
                <a:spcPts val="600"/>
              </a:spcAft>
              <a:defRPr sz="1100">
                <a:solidFill>
                  <a:srgbClr val="FFFFFF"/>
                </a:solidFill>
              </a:defRPr>
            </a:pPr>
            <a:r>
              <a:t>La TV del bar muestra la pregunta con cuenta regresiva. Los clientes responden contrarreloj desde su smartphone compitiendo mesa contra mesa.</a:t>
            </a:r>
          </a:p>
          <a:p>
            <a:pPr>
              <a:spcAft>
                <a:spcPts val="100"/>
              </a:spcAft>
              <a:defRPr sz="1250" b="1">
                <a:solidFill>
                  <a:srgbClr val="FF5722"/>
                </a:solidFill>
              </a:defRPr>
            </a:pPr>
            <a:r>
              <a:t>🏆 Podio en Pantalla Grande</a:t>
            </a:r>
          </a:p>
          <a:p>
            <a:pPr>
              <a:spcAft>
                <a:spcPts val="600"/>
              </a:spcAft>
              <a:defRPr sz="1100">
                <a:solidFill>
                  <a:srgbClr val="FFFFFF"/>
                </a:solidFill>
              </a:defRPr>
            </a:pPr>
            <a:r>
              <a:t>El restaurante entero ve subir el ranking en vivo en la TV.</a:t>
            </a:r>
          </a:p>
        </p:txBody>
      </p:sp>
      <p:sp>
        <p:nvSpPr>
          <p:cNvPr id="5" name="Rounded Rectangle 4"/>
          <p:cNvSpPr/>
          <p:nvPr/>
        </p:nvSpPr>
        <p:spPr>
          <a:xfrm>
            <a:off x="6217920" y="1645920"/>
            <a:ext cx="5212080"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92240" y="1828800"/>
            <a:ext cx="4663440" cy="4206240"/>
          </a:xfrm>
          <a:prstGeom prst="rect">
            <a:avLst/>
          </a:prstGeom>
          <a:noFill/>
        </p:spPr>
        <p:txBody>
          <a:bodyPr wrap="square">
            <a:spAutoFit/>
          </a:bodyPr>
          <a:lstStyle/>
          <a:p>
            <a:pPr>
              <a:spcAft>
                <a:spcPts val="800"/>
              </a:spcAft>
              <a:defRPr sz="1650" b="1">
                <a:solidFill>
                  <a:srgbClr val="00E676"/>
                </a:solidFill>
              </a:defRPr>
            </a:pPr>
            <a:r>
              <a:t>🛡️ Survivor NFL (Fidelidad Semanal)</a:t>
            </a:r>
          </a:p>
          <a:p>
            <a:pPr>
              <a:spcAft>
                <a:spcPts val="100"/>
              </a:spcAft>
              <a:defRPr sz="1250" b="1">
                <a:solidFill>
                  <a:srgbClr val="FFD100"/>
                </a:solidFill>
              </a:defRPr>
            </a:pPr>
            <a:r>
              <a:t>🛠️ Creación Única</a:t>
            </a:r>
          </a:p>
          <a:p>
            <a:pPr>
              <a:spcAft>
                <a:spcPts val="600"/>
              </a:spcAft>
              <a:defRPr sz="1100">
                <a:solidFill>
                  <a:srgbClr val="FFFFFF"/>
                </a:solidFill>
              </a:defRPr>
            </a:pPr>
            <a:r>
              <a:t>Se activa al inicio de la temporada regular de NFL.</a:t>
            </a:r>
          </a:p>
          <a:p>
            <a:pPr>
              <a:spcAft>
                <a:spcPts val="100"/>
              </a:spcAft>
              <a:defRPr sz="1250" b="1">
                <a:solidFill>
                  <a:srgbClr val="FFD100"/>
                </a:solidFill>
              </a:defRPr>
            </a:pPr>
            <a:r>
              <a:t>📱 1 Equipo por Semana</a:t>
            </a:r>
          </a:p>
          <a:p>
            <a:pPr>
              <a:spcAft>
                <a:spcPts val="600"/>
              </a:spcAft>
              <a:defRPr sz="1100">
                <a:solidFill>
                  <a:srgbClr val="FFFFFF"/>
                </a:solidFill>
              </a:defRPr>
            </a:pPr>
            <a:r>
              <a:t>El cliente elige 1 equipo ganador por semana sin repetir. Si su equipo gana, sobrevive; si pierde, queda eliminado.</a:t>
            </a:r>
          </a:p>
          <a:p>
            <a:pPr>
              <a:spcAft>
                <a:spcPts val="100"/>
              </a:spcAft>
              <a:defRPr sz="1250" b="1">
                <a:solidFill>
                  <a:srgbClr val="FFD100"/>
                </a:solidFill>
              </a:defRPr>
            </a:pPr>
            <a:r>
              <a:t>🏆 Retención Obligatoria</a:t>
            </a:r>
          </a:p>
          <a:p>
            <a:pPr>
              <a:spcAft>
                <a:spcPts val="600"/>
              </a:spcAft>
              <a:defRPr sz="1100">
                <a:solidFill>
                  <a:srgbClr val="FFFFFF"/>
                </a:solidFill>
              </a:defRPr>
            </a:pPr>
            <a:r>
              <a:t>Obliga al cliente a regresar semana tras semana a la sucursal para defender su boleto de sobreviviente.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spcAft>
                <a:spcPts val="200"/>
              </a:spcAft>
              <a:defRPr sz="1000" b="1">
                <a:solidFill>
                  <a:srgbClr val="FFB612"/>
                </a:solidFill>
              </a:defRPr>
            </a:pPr>
            <a:r>
              <a:t>RENTABILIDAD Y VENTAS</a:t>
            </a:r>
          </a:p>
          <a:p>
            <a:pPr>
              <a:defRPr sz="2300" b="1">
                <a:solidFill>
                  <a:srgbClr val="FFFFFF"/>
                </a:solidFill>
              </a:defRPr>
            </a:pPr>
            <a:r>
              <a:t>Estrategia de Premios: Diseñada para Proteger el Margen</a:t>
            </a:r>
          </a:p>
        </p:txBody>
      </p:sp>
      <p:sp>
        <p:nvSpPr>
          <p:cNvPr id="3" name="Rounded Rectangle 2"/>
          <p:cNvSpPr/>
          <p:nvPr/>
        </p:nvSpPr>
        <p:spPr>
          <a:xfrm>
            <a:off x="731520" y="1645920"/>
            <a:ext cx="3413455"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2864815" cy="4114800"/>
          </a:xfrm>
          <a:prstGeom prst="rect">
            <a:avLst/>
          </a:prstGeom>
          <a:noFill/>
        </p:spPr>
        <p:txBody>
          <a:bodyPr wrap="square">
            <a:spAutoFit/>
          </a:bodyPr>
          <a:lstStyle/>
          <a:p>
            <a:pPr>
              <a:spcAft>
                <a:spcPts val="1400"/>
              </a:spcAft>
              <a:defRPr sz="1600" b="1">
                <a:solidFill>
                  <a:srgbClr val="FFB612"/>
                </a:solidFill>
              </a:defRPr>
            </a:pPr>
            <a:r>
              <a:t>🍔 Alto Valor Percibido vs Bajo Costo</a:t>
            </a:r>
          </a:p>
          <a:p>
            <a:pPr>
              <a:defRPr sz="1300">
                <a:solidFill>
                  <a:srgbClr val="FFFFFF"/>
                </a:solidFill>
              </a:defRPr>
            </a:pPr>
            <a:r>
              <a:t>Una orden de alitas o una cerveza tiene un costo de insumo moderado para cocina/barra ($30-$50 MXN), pero en la mente del cliente representa un premio valioso de $160 a $240 MXN.</a:t>
            </a:r>
          </a:p>
        </p:txBody>
      </p:sp>
      <p:sp>
        <p:nvSpPr>
          <p:cNvPr id="5" name="Rounded Rectangle 4"/>
          <p:cNvSpPr/>
          <p:nvPr/>
        </p:nvSpPr>
        <p:spPr>
          <a:xfrm>
            <a:off x="4389120" y="1645920"/>
            <a:ext cx="3413455"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63440" y="1920240"/>
            <a:ext cx="2864815" cy="4114800"/>
          </a:xfrm>
          <a:prstGeom prst="rect">
            <a:avLst/>
          </a:prstGeom>
          <a:noFill/>
        </p:spPr>
        <p:txBody>
          <a:bodyPr wrap="square">
            <a:spAutoFit/>
          </a:bodyPr>
          <a:lstStyle/>
          <a:p>
            <a:pPr>
              <a:spcAft>
                <a:spcPts val="1400"/>
              </a:spcAft>
              <a:defRPr sz="1600" b="1">
                <a:solidFill>
                  <a:srgbClr val="00E676"/>
                </a:solidFill>
              </a:defRPr>
            </a:pPr>
            <a:r>
              <a:t>🍻 Festejo y Rondas Extra en Mesa</a:t>
            </a:r>
          </a:p>
          <a:p>
            <a:pPr>
              <a:defRPr sz="1300">
                <a:solidFill>
                  <a:srgbClr val="FFFFFF"/>
                </a:solidFill>
              </a:defRPr>
            </a:pPr>
            <a:r>
              <a:t>Nadie gana y se va. El comensal que resulta campeón celebra con su mesa, y el grupo pide cervezas y platillos adicionales para acompañar el premio. El ticket final siempre supera con creces el costo del incentivo.</a:t>
            </a:r>
          </a:p>
        </p:txBody>
      </p:sp>
      <p:sp>
        <p:nvSpPr>
          <p:cNvPr id="7" name="Rounded Rectangle 6"/>
          <p:cNvSpPr/>
          <p:nvPr/>
        </p:nvSpPr>
        <p:spPr>
          <a:xfrm>
            <a:off x="8046720" y="1645920"/>
            <a:ext cx="3413455"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21040" y="1920240"/>
            <a:ext cx="2864815" cy="4114800"/>
          </a:xfrm>
          <a:prstGeom prst="rect">
            <a:avLst/>
          </a:prstGeom>
          <a:noFill/>
        </p:spPr>
        <p:txBody>
          <a:bodyPr wrap="square">
            <a:spAutoFit/>
          </a:bodyPr>
          <a:lstStyle/>
          <a:p>
            <a:pPr>
              <a:spcAft>
                <a:spcPts val="1400"/>
              </a:spcAft>
              <a:defRPr sz="1600" b="1">
                <a:solidFill>
                  <a:srgbClr val="FF5722"/>
                </a:solidFill>
              </a:defRPr>
            </a:pPr>
            <a:r>
              <a:t>🔄 Retorno Asegurado en Días Bajas</a:t>
            </a:r>
          </a:p>
          <a:p>
            <a:pPr>
              <a:defRPr sz="1300">
                <a:solidFill>
                  <a:srgbClr val="FFFFFF"/>
                </a:solidFill>
              </a:defRPr>
            </a:pPr>
            <a:r>
              <a:t>Los cupones de 2º y 3º lugar se pueden programar para canjearse de lunes a jueves en su siguiente visita, generando tráfico en días y horarios con menor ocupación.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spcAft>
                <a:spcPts val="200"/>
              </a:spcAft>
              <a:defRPr sz="1000" b="1">
                <a:solidFill>
                  <a:srgbClr val="FFB612"/>
                </a:solidFill>
              </a:defRPr>
            </a:pPr>
            <a:r>
              <a:t>EQUIPO DE SERVICIO</a:t>
            </a:r>
          </a:p>
          <a:p>
            <a:pPr>
              <a:defRPr sz="2300" b="1">
                <a:solidFill>
                  <a:srgbClr val="FFFFFF"/>
                </a:solidFill>
              </a:defRPr>
            </a:pPr>
            <a:r>
              <a:t>Gamificación del Personal: Meseros como Embajadores</a:t>
            </a:r>
          </a:p>
        </p:txBody>
      </p:sp>
      <p:sp>
        <p:nvSpPr>
          <p:cNvPr id="3" name="Rounded Rectangle 2"/>
          <p:cNvSpPr/>
          <p:nvPr/>
        </p:nvSpPr>
        <p:spPr>
          <a:xfrm>
            <a:off x="731520" y="1645920"/>
            <a:ext cx="6858000"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309360" cy="4206240"/>
          </a:xfrm>
          <a:prstGeom prst="rect">
            <a:avLst/>
          </a:prstGeom>
          <a:noFill/>
        </p:spPr>
        <p:txBody>
          <a:bodyPr wrap="square">
            <a:spAutoFit/>
          </a:bodyPr>
          <a:lstStyle/>
          <a:p>
            <a:pPr>
              <a:spcAft>
                <a:spcPts val="200"/>
              </a:spcAft>
              <a:defRPr sz="1350" b="1">
                <a:solidFill>
                  <a:srgbClr val="FFB612"/>
                </a:solidFill>
              </a:defRPr>
            </a:pPr>
            <a:r>
              <a:t>🙋 Atribución Clara en Cada Mesa</a:t>
            </a:r>
          </a:p>
          <a:p>
            <a:pPr>
              <a:spcAft>
                <a:spcPts val="1000"/>
              </a:spcAft>
              <a:defRPr sz="1150">
                <a:solidFill>
                  <a:srgbClr val="FFFFFF"/>
                </a:solidFill>
              </a:defRPr>
            </a:pPr>
            <a:r>
              <a:t>Al registrar sus pronósticos, el cliente selecciona el nombre de su mesero en la lista. La gerencia sabe con métricas exactas qué meseros están invitando activamente y cuáles no.</a:t>
            </a:r>
          </a:p>
          <a:p>
            <a:pPr>
              <a:spcAft>
                <a:spcPts val="200"/>
              </a:spcAft>
              <a:defRPr sz="1350" b="1">
                <a:solidFill>
                  <a:srgbClr val="FFB612"/>
                </a:solidFill>
              </a:defRPr>
            </a:pPr>
            <a:r>
              <a:t>💰 Incentivo Económico Directo (Más Propina)</a:t>
            </a:r>
          </a:p>
          <a:p>
            <a:pPr>
              <a:spcAft>
                <a:spcPts val="1000"/>
              </a:spcAft>
              <a:defRPr sz="1150">
                <a:solidFill>
                  <a:srgbClr val="FFFFFF"/>
                </a:solidFill>
              </a:defRPr>
            </a:pPr>
            <a:r>
              <a:t>Los meseros comprenden la fórmula de inmediato: Si la mesa se queda 3 horas compitiendo, consumirá más rondas de cerveza, hamburguesas y alitas, lo que elevará el total de la cuenta y su propina.</a:t>
            </a:r>
          </a:p>
          <a:p>
            <a:pPr>
              <a:spcAft>
                <a:spcPts val="200"/>
              </a:spcAft>
              <a:defRPr sz="1350" b="1">
                <a:solidFill>
                  <a:srgbClr val="FFB612"/>
                </a:solidFill>
              </a:defRPr>
            </a:pPr>
            <a:r>
              <a:t>💬 Rompehielos Natural de Venta Sugerida</a:t>
            </a:r>
          </a:p>
          <a:p>
            <a:pPr>
              <a:spcAft>
                <a:spcPts val="1000"/>
              </a:spcAft>
              <a:defRPr sz="1150">
                <a:solidFill>
                  <a:srgbClr val="FFFFFF"/>
                </a:solidFill>
              </a:defRPr>
            </a:pPr>
            <a:r>
              <a:t>En lugar del genérico '¿Se les ofrece algo más?', el mesero llega sonriendo: '¿Ya metieron su quiniela de hoy con mi nombre? Si ganan, ¡la casa les invita unas alitas!'.</a:t>
            </a:r>
          </a:p>
          <a:p>
            <a:pPr>
              <a:spcAft>
                <a:spcPts val="200"/>
              </a:spcAft>
              <a:defRPr sz="1350" b="1">
                <a:solidFill>
                  <a:srgbClr val="FFB612"/>
                </a:solidFill>
              </a:defRPr>
            </a:pPr>
            <a:r>
              <a:t>🏆 Competencia Interna del Equipo</a:t>
            </a:r>
          </a:p>
          <a:p>
            <a:pPr>
              <a:spcAft>
                <a:spcPts val="1000"/>
              </a:spcAft>
              <a:defRPr sz="1150">
                <a:solidFill>
                  <a:srgbClr val="FFFFFF"/>
                </a:solidFill>
              </a:defRPr>
            </a:pPr>
            <a:r>
              <a:t>Se puede premiar al mesero con más comensales registrados en la semana con turnos preferenciales o un reconocimiento en la junta semanal.</a:t>
            </a:r>
          </a:p>
        </p:txBody>
      </p:sp>
      <p:pic>
        <p:nvPicPr>
          <p:cNvPr id="5" name="Picture 4" descr="screenshot_admin_player.png"/>
          <p:cNvPicPr>
            <a:picLocks noChangeAspect="1"/>
          </p:cNvPicPr>
          <p:nvPr/>
        </p:nvPicPr>
        <p:blipFill>
          <a:blip r:embed="rId2"/>
          <a:stretch>
            <a:fillRect/>
          </a:stretch>
        </p:blipFill>
        <p:spPr>
          <a:xfrm>
            <a:off x="7863840" y="1828800"/>
            <a:ext cx="3566160" cy="1308612"/>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spcAft>
                <a:spcPts val="200"/>
              </a:spcAft>
              <a:defRPr sz="1000" b="1">
                <a:solidFill>
                  <a:srgbClr val="FFB612"/>
                </a:solidFill>
              </a:defRPr>
            </a:pPr>
            <a:r>
              <a:t>CALENDARIO INTELIGENTE</a:t>
            </a:r>
          </a:p>
          <a:p>
            <a:pPr>
              <a:defRPr sz="2300" b="1">
                <a:solidFill>
                  <a:srgbClr val="FFFFFF"/>
                </a:solidFill>
              </a:defRPr>
            </a:pPr>
            <a:r>
              <a:t>Estrategia Gradual: El Juego Indicado en el Momento Indicado</a:t>
            </a:r>
          </a:p>
        </p:txBody>
      </p:sp>
      <p:sp>
        <p:nvSpPr>
          <p:cNvPr id="3" name="Rounded Rectangle 2"/>
          <p:cNvSpPr/>
          <p:nvPr/>
        </p:nvSpPr>
        <p:spPr>
          <a:xfrm>
            <a:off x="731520" y="1645920"/>
            <a:ext cx="10728655"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828800"/>
            <a:ext cx="9966960" cy="4206240"/>
          </a:xfrm>
          <a:prstGeom prst="rect">
            <a:avLst/>
          </a:prstGeom>
          <a:noFill/>
        </p:spPr>
        <p:txBody>
          <a:bodyPr wrap="square">
            <a:spAutoFit/>
          </a:bodyPr>
          <a:lstStyle/>
          <a:p>
            <a:pPr>
              <a:spcAft>
                <a:spcPts val="1200"/>
              </a:spcAft>
              <a:defRPr sz="1700" b="1">
                <a:solidFill>
                  <a:srgbClr val="FFB612"/>
                </a:solidFill>
              </a:defRPr>
            </a:pPr>
            <a:r>
              <a:t>🎯 Menos es Más: La Calidad del Momento vs Saturación</a:t>
            </a:r>
          </a:p>
          <a:p>
            <a:pPr>
              <a:spcAft>
                <a:spcPts val="200"/>
              </a:spcAft>
              <a:defRPr sz="1400" b="1">
                <a:solidFill>
                  <a:srgbClr val="FFD100"/>
                </a:solidFill>
              </a:defRPr>
            </a:pPr>
            <a:r>
              <a:t>🚫 No Jugar Todos los Juegos Todos los Días</a:t>
            </a:r>
          </a:p>
          <a:p>
            <a:pPr>
              <a:spcAft>
                <a:spcPts val="1000"/>
              </a:spcAft>
              <a:defRPr sz="1200">
                <a:solidFill>
                  <a:srgbClr val="FFFFFF"/>
                </a:solidFill>
              </a:defRPr>
            </a:pPr>
            <a:r>
              <a:t>Saturar al cliente o al personal con 5 juegos simultáneos genera fatiga y desinterés. La experiencia debe sentirse especial y esperada cada fin de semana.</a:t>
            </a:r>
          </a:p>
          <a:p>
            <a:pPr>
              <a:spcAft>
                <a:spcPts val="200"/>
              </a:spcAft>
              <a:defRPr sz="1400" b="1">
                <a:solidFill>
                  <a:srgbClr val="FFD100"/>
                </a:solidFill>
              </a:defRPr>
            </a:pPr>
            <a:r>
              <a:t>📅 Jueves, Domingos y Lunes: Modo NFL</a:t>
            </a:r>
          </a:p>
          <a:p>
            <a:pPr>
              <a:spcAft>
                <a:spcPts val="1000"/>
              </a:spcAft>
              <a:defRPr sz="1200">
                <a:solidFill>
                  <a:srgbClr val="FFFFFF"/>
                </a:solidFill>
              </a:defRPr>
            </a:pPr>
            <a:r>
              <a:t>Exclusivamente Quinielas de Semana NFL y Football Grids en partidos estelares de Steelers, Sunday Night y Monday Night.</a:t>
            </a:r>
          </a:p>
          <a:p>
            <a:pPr>
              <a:spcAft>
                <a:spcPts val="200"/>
              </a:spcAft>
              <a:defRPr sz="1400" b="1">
                <a:solidFill>
                  <a:srgbClr val="FFD100"/>
                </a:solidFill>
              </a:defRPr>
            </a:pPr>
            <a:r>
              <a:t>⚽ Viernes, Sábados y Domingos: Modo Fútbol</a:t>
            </a:r>
          </a:p>
          <a:p>
            <a:pPr>
              <a:spcAft>
                <a:spcPts val="1000"/>
              </a:spcAft>
              <a:defRPr sz="1200">
                <a:solidFill>
                  <a:srgbClr val="FFFFFF"/>
                </a:solidFill>
              </a:defRPr>
            </a:pPr>
            <a:r>
              <a:t>Quinielas de Jornada de Liga MX y dinámicas de First Striker en Clásicos y liguilla.</a:t>
            </a:r>
          </a:p>
          <a:p>
            <a:pPr>
              <a:spcAft>
                <a:spcPts val="200"/>
              </a:spcAft>
              <a:defRPr sz="1400" b="1">
                <a:solidFill>
                  <a:srgbClr val="FFD100"/>
                </a:solidFill>
              </a:defRPr>
            </a:pPr>
            <a:r>
              <a:t>🧠 Medios Tiempos Selectos: Modo Trivia</a:t>
            </a:r>
          </a:p>
          <a:p>
            <a:pPr>
              <a:spcAft>
                <a:spcPts val="1000"/>
              </a:spcAft>
              <a:defRPr sz="1200">
                <a:solidFill>
                  <a:srgbClr val="FFFFFF"/>
                </a:solidFill>
              </a:defRPr>
            </a:pPr>
            <a:r>
              <a:t>Trivias de 10 minutos exclusivamente en el medio tiempo de partidos de alta audiencia para mantener a la gente entretenida mientras no hay jugadas.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spcAft>
                <a:spcPts val="200"/>
              </a:spcAft>
              <a:defRPr sz="1000" b="1">
                <a:solidFill>
                  <a:srgbClr val="FFB612"/>
                </a:solidFill>
              </a:defRPr>
            </a:pPr>
            <a:r>
              <a:t>RETORNO DE INVERSIÓN</a:t>
            </a:r>
          </a:p>
          <a:p>
            <a:pPr>
              <a:defRPr sz="2300" b="1">
                <a:solidFill>
                  <a:srgbClr val="FFFFFF"/>
                </a:solidFill>
              </a:defRPr>
            </a:pPr>
            <a:r>
              <a:t>Métricas Clave de Negocio (KPIs y Rentabilidad)</a:t>
            </a:r>
          </a:p>
        </p:txBody>
      </p:sp>
      <p:sp>
        <p:nvSpPr>
          <p:cNvPr id="3" name="Rounded Rectangle 2"/>
          <p:cNvSpPr/>
          <p:nvPr/>
        </p:nvSpPr>
        <p:spPr>
          <a:xfrm>
            <a:off x="731520" y="1645920"/>
            <a:ext cx="2499055"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20240"/>
            <a:ext cx="2133295" cy="4114800"/>
          </a:xfrm>
          <a:prstGeom prst="rect">
            <a:avLst/>
          </a:prstGeom>
          <a:noFill/>
        </p:spPr>
        <p:txBody>
          <a:bodyPr wrap="square">
            <a:spAutoFit/>
          </a:bodyPr>
          <a:lstStyle/>
          <a:p>
            <a:pPr algn="ctr">
              <a:spcAft>
                <a:spcPts val="400"/>
              </a:spcAft>
              <a:defRPr sz="3600" b="1">
                <a:solidFill>
                  <a:srgbClr val="FFB612"/>
                </a:solidFill>
              </a:defRPr>
            </a:pPr>
            <a:r>
              <a:t>+35%</a:t>
            </a:r>
          </a:p>
          <a:p>
            <a:pPr algn="ctr">
              <a:spcAft>
                <a:spcPts val="1400"/>
              </a:spcAft>
              <a:defRPr sz="1100" b="1">
                <a:solidFill>
                  <a:srgbClr val="FFB612"/>
                </a:solidFill>
              </a:defRPr>
            </a:pPr>
            <a:r>
              <a:t>PERMANENCIA (DWELL TIME)</a:t>
            </a:r>
          </a:p>
          <a:p>
            <a:pPr algn="ctr">
              <a:defRPr sz="1150">
                <a:solidFill>
                  <a:srgbClr val="94A3B8"/>
                </a:solidFill>
              </a:defRPr>
            </a:pPr>
            <a:r>
              <a:t>Las mesas se quedan hasta el silbatazo final para ver si ganan su quiniela.</a:t>
            </a:r>
          </a:p>
        </p:txBody>
      </p:sp>
      <p:sp>
        <p:nvSpPr>
          <p:cNvPr id="5" name="Rounded Rectangle 4"/>
          <p:cNvSpPr/>
          <p:nvPr/>
        </p:nvSpPr>
        <p:spPr>
          <a:xfrm>
            <a:off x="3474720" y="1645920"/>
            <a:ext cx="2499055"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0" y="1920240"/>
            <a:ext cx="2133295" cy="4114800"/>
          </a:xfrm>
          <a:prstGeom prst="rect">
            <a:avLst/>
          </a:prstGeom>
          <a:noFill/>
        </p:spPr>
        <p:txBody>
          <a:bodyPr wrap="square">
            <a:spAutoFit/>
          </a:bodyPr>
          <a:lstStyle/>
          <a:p>
            <a:pPr algn="ctr">
              <a:spcAft>
                <a:spcPts val="400"/>
              </a:spcAft>
              <a:defRPr sz="3600" b="1">
                <a:solidFill>
                  <a:srgbClr val="00E676"/>
                </a:solidFill>
              </a:defRPr>
            </a:pPr>
            <a:r>
              <a:t>+22%</a:t>
            </a:r>
          </a:p>
          <a:p>
            <a:pPr algn="ctr">
              <a:spcAft>
                <a:spcPts val="1400"/>
              </a:spcAft>
              <a:defRPr sz="1100" b="1">
                <a:solidFill>
                  <a:srgbClr val="FFB612"/>
                </a:solidFill>
              </a:defRPr>
            </a:pPr>
            <a:r>
              <a:t>TICKET PROMEDIO (AOV)</a:t>
            </a:r>
          </a:p>
          <a:p>
            <a:pPr algn="ctr">
              <a:defRPr sz="1150">
                <a:solidFill>
                  <a:srgbClr val="94A3B8"/>
                </a:solidFill>
              </a:defRPr>
            </a:pPr>
            <a:r>
              <a:t>El ambiente competitivo estimula pedidos repetidos de cerveza y botanas.</a:t>
            </a:r>
          </a:p>
        </p:txBody>
      </p:sp>
      <p:sp>
        <p:nvSpPr>
          <p:cNvPr id="7" name="Rounded Rectangle 6"/>
          <p:cNvSpPr/>
          <p:nvPr/>
        </p:nvSpPr>
        <p:spPr>
          <a:xfrm>
            <a:off x="6217920" y="1645920"/>
            <a:ext cx="2499055"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920240"/>
            <a:ext cx="2133295" cy="4114800"/>
          </a:xfrm>
          <a:prstGeom prst="rect">
            <a:avLst/>
          </a:prstGeom>
          <a:noFill/>
        </p:spPr>
        <p:txBody>
          <a:bodyPr wrap="square">
            <a:spAutoFit/>
          </a:bodyPr>
          <a:lstStyle/>
          <a:p>
            <a:pPr algn="ctr">
              <a:spcAft>
                <a:spcPts val="400"/>
              </a:spcAft>
              <a:defRPr sz="3600" b="1">
                <a:solidFill>
                  <a:srgbClr val="FF5722"/>
                </a:solidFill>
              </a:defRPr>
            </a:pPr>
            <a:r>
              <a:t>3x</a:t>
            </a:r>
          </a:p>
          <a:p>
            <a:pPr algn="ctr">
              <a:spcAft>
                <a:spcPts val="1400"/>
              </a:spcAft>
              <a:defRPr sz="1100" b="1">
                <a:solidFill>
                  <a:srgbClr val="FFB612"/>
                </a:solidFill>
              </a:defRPr>
            </a:pPr>
            <a:r>
              <a:t>RETENCIÓN Y LEALTAD</a:t>
            </a:r>
          </a:p>
          <a:p>
            <a:pPr algn="ctr">
              <a:defRPr sz="1150">
                <a:solidFill>
                  <a:srgbClr val="94A3B8"/>
                </a:solidFill>
              </a:defRPr>
            </a:pPr>
            <a:r>
              <a:t>El comensal regresa jornada tras jornada para defender su posición en la tabla.</a:t>
            </a:r>
          </a:p>
        </p:txBody>
      </p:sp>
      <p:sp>
        <p:nvSpPr>
          <p:cNvPr id="9" name="Rounded Rectangle 8"/>
          <p:cNvSpPr/>
          <p:nvPr/>
        </p:nvSpPr>
        <p:spPr>
          <a:xfrm>
            <a:off x="8961120" y="1645920"/>
            <a:ext cx="2499055"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0" y="1920240"/>
            <a:ext cx="2133295" cy="4114800"/>
          </a:xfrm>
          <a:prstGeom prst="rect">
            <a:avLst/>
          </a:prstGeom>
          <a:noFill/>
        </p:spPr>
        <p:txBody>
          <a:bodyPr wrap="square">
            <a:spAutoFit/>
          </a:bodyPr>
          <a:lstStyle/>
          <a:p>
            <a:pPr algn="ctr">
              <a:spcAft>
                <a:spcPts val="400"/>
              </a:spcAft>
              <a:defRPr sz="3600" b="1">
                <a:solidFill>
                  <a:srgbClr val="FFFFFF"/>
                </a:solidFill>
              </a:defRPr>
            </a:pPr>
            <a:r>
              <a:t>$0</a:t>
            </a:r>
          </a:p>
          <a:p>
            <a:pPr algn="ctr">
              <a:spcAft>
                <a:spcPts val="1400"/>
              </a:spcAft>
              <a:defRPr sz="1100" b="1">
                <a:solidFill>
                  <a:srgbClr val="FFB612"/>
                </a:solidFill>
              </a:defRPr>
            </a:pPr>
            <a:r>
              <a:t>COSTO DE PAPELERÍA</a:t>
            </a:r>
          </a:p>
          <a:p>
            <a:pPr algn="ctr">
              <a:defRPr sz="1150">
                <a:solidFill>
                  <a:srgbClr val="94A3B8"/>
                </a:solidFill>
              </a:defRPr>
            </a:pPr>
            <a:r>
              <a:t>Eliminación total de impresiones, papeletas extraviadas y errores de conteo.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spcAft>
                <a:spcPts val="200"/>
              </a:spcAft>
              <a:defRPr sz="1000" b="1">
                <a:solidFill>
                  <a:srgbClr val="FFB612"/>
                </a:solidFill>
              </a:defRPr>
            </a:pPr>
            <a:r>
              <a:t>PRÓXIMOS PASOS</a:t>
            </a:r>
          </a:p>
          <a:p>
            <a:pPr>
              <a:defRPr sz="2300" b="1">
                <a:solidFill>
                  <a:srgbClr val="FFFFFF"/>
                </a:solidFill>
              </a:defRPr>
            </a:pPr>
            <a:r>
              <a:t>Plan de Acción en Juriquilla y Conclusión</a:t>
            </a:r>
          </a:p>
        </p:txBody>
      </p:sp>
      <p:sp>
        <p:nvSpPr>
          <p:cNvPr id="3" name="Rounded Rectangle 2"/>
          <p:cNvSpPr/>
          <p:nvPr/>
        </p:nvSpPr>
        <p:spPr>
          <a:xfrm>
            <a:off x="731520" y="1645920"/>
            <a:ext cx="10728655"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828800"/>
            <a:ext cx="9966960" cy="4206240"/>
          </a:xfrm>
          <a:prstGeom prst="rect">
            <a:avLst/>
          </a:prstGeom>
          <a:noFill/>
        </p:spPr>
        <p:txBody>
          <a:bodyPr wrap="square">
            <a:spAutoFit/>
          </a:bodyPr>
          <a:lstStyle/>
          <a:p>
            <a:pPr>
              <a:spcAft>
                <a:spcPts val="200"/>
              </a:spcAft>
              <a:defRPr sz="1400" b="1">
                <a:solidFill>
                  <a:srgbClr val="FFB612"/>
                </a:solidFill>
              </a:defRPr>
            </a:pPr>
            <a:r>
              <a:t>Paso 1: Colocación de Material POP en Mesas (Día 1)</a:t>
            </a:r>
          </a:p>
          <a:p>
            <a:pPr>
              <a:spcAft>
                <a:spcPts val="1000"/>
              </a:spcAft>
              <a:defRPr sz="1150">
                <a:solidFill>
                  <a:srgbClr val="FFFFFF"/>
                </a:solidFill>
              </a:defRPr>
            </a:pPr>
            <a:r>
              <a:t>Acrílicos de mesa con código QR directo y bienvenida en pantallas del restaurante.</a:t>
            </a:r>
          </a:p>
          <a:p>
            <a:pPr>
              <a:spcAft>
                <a:spcPts val="200"/>
              </a:spcAft>
              <a:defRPr sz="1400" b="1">
                <a:solidFill>
                  <a:srgbClr val="FFB612"/>
                </a:solidFill>
              </a:defRPr>
            </a:pPr>
            <a:r>
              <a:t>Paso 2: Capacitación Express de 15 Minutos (Día 2)</a:t>
            </a:r>
          </a:p>
          <a:p>
            <a:pPr>
              <a:spcAft>
                <a:spcPts val="1000"/>
              </a:spcAft>
              <a:defRPr sz="1150">
                <a:solidFill>
                  <a:srgbClr val="FFFFFF"/>
                </a:solidFill>
              </a:defRPr>
            </a:pPr>
            <a:r>
              <a:t>Demostración rápida al equipo de meseros y capitanes: cómo invitar a la mesa y cómo verificar al ganador.</a:t>
            </a:r>
          </a:p>
          <a:p>
            <a:pPr>
              <a:spcAft>
                <a:spcPts val="200"/>
              </a:spcAft>
              <a:defRPr sz="1400" b="1">
                <a:solidFill>
                  <a:srgbClr val="FFB612"/>
                </a:solidFill>
              </a:defRPr>
            </a:pPr>
            <a:r>
              <a:t>Paso 3: Activación Piloto con Steelers Nation QRO (Fin de Semana)</a:t>
            </a:r>
          </a:p>
          <a:p>
            <a:pPr>
              <a:spcAft>
                <a:spcPts val="1000"/>
              </a:spcAft>
              <a:defRPr sz="1150">
                <a:solidFill>
                  <a:srgbClr val="FFFFFF"/>
                </a:solidFill>
              </a:defRPr>
            </a:pPr>
            <a:r>
              <a:t>Lanzamiento oficial en el partido estelar de Steelers en Juriquilla con la comunidad de más de 71 miembros registrados.</a:t>
            </a:r>
          </a:p>
          <a:p>
            <a:pPr>
              <a:spcAft>
                <a:spcPts val="200"/>
              </a:spcAft>
              <a:defRPr sz="1400" b="1">
                <a:solidFill>
                  <a:srgbClr val="FFB612"/>
                </a:solidFill>
              </a:defRPr>
            </a:pPr>
            <a:r>
              <a:t>Paso 4: Evaluación de Resultados y Expansión a Otras Sucursales</a:t>
            </a:r>
          </a:p>
          <a:p>
            <a:pPr>
              <a:spcAft>
                <a:spcPts val="1000"/>
              </a:spcAft>
              <a:defRPr sz="1150">
                <a:solidFill>
                  <a:srgbClr val="FFFFFF"/>
                </a:solidFill>
              </a:defRPr>
            </a:pPr>
            <a:r>
              <a:t>Revisión con dueños y gerencia de consumo generado, mesas participantes y lealtad para escalarlo a toda la marca.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