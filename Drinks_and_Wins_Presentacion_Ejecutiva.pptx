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61C2A"/>
          </a:solidFill>
          <a:ln w="19050">
            <a:solidFill>
              <a:srgbClr val="FFB6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371600"/>
            <a:ext cx="850821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2651760"/>
            <a:ext cx="9601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FB612"/>
                </a:solidFill>
              </a:defRPr>
            </a:pPr>
            <a:r>
              <a:t>EXPERIENCIA DIGITAL EN MESA</a:t>
            </a:r>
          </a:p>
          <a:p>
            <a:pPr>
              <a:spcAft>
                <a:spcPts val="1000"/>
              </a:spcAft>
              <a:defRPr sz="4400" b="1">
                <a:solidFill>
                  <a:srgbClr val="FFFFFF"/>
                </a:solidFill>
              </a:defRPr>
            </a:pPr>
            <a:r>
              <a:t>DRINKS &amp; WINS</a:t>
            </a:r>
          </a:p>
          <a:p>
            <a:pPr>
              <a:spcAft>
                <a:spcPts val="2400"/>
              </a:spcAft>
              <a:defRPr sz="2000">
                <a:solidFill>
                  <a:srgbClr val="FFD100"/>
                </a:solidFill>
              </a:defRPr>
            </a:pPr>
            <a:r>
              <a:t>La Plataforma de Gamificación Deportiva que Convierte Comensales en Fanáticos Recurrentes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Presentación Estratégica para Dirección General, Dueños de Marca y Gerencia Operativa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B612"/>
                </a:solidFill>
              </a:defRPr>
            </a:pPr>
            <a:r>
              <a:t>DRINKS &amp; WINS • PLATAFORMA DE GAMIFICACIÓN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El Reto en el Restaurante: ¿Qué pasa durante los partidos?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3413455" cy="4297680"/>
          </a:xfrm>
          <a:prstGeom prst="roundRect">
            <a:avLst/>
          </a:prstGeom>
          <a:solidFill>
            <a:srgbClr val="161C2A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28648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FF5722"/>
                </a:solidFill>
              </a:defRPr>
            </a:pPr>
            <a:r>
              <a:t>⏳ Tiempos Muertos y Rotación Lenta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Durante un partido de 3 horas de NFL o 90 min de fútbol, hay largos lapsos pasivos (medios tiempos, pausas comerciales, revisiones de jugadas). Los comensales pierden dinamismo y baja la frecuencia de pedidos.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737360"/>
            <a:ext cx="3413455" cy="4297680"/>
          </a:xfrm>
          <a:prstGeom prst="roundRect">
            <a:avLst/>
          </a:prstGeom>
          <a:solidFill>
            <a:srgbClr val="161C2A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0" y="2011680"/>
            <a:ext cx="28648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FFB612"/>
                </a:solidFill>
              </a:defRPr>
            </a:pPr>
            <a:r>
              <a:t>📱 Distracción Aislada en el Celular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El cliente mira su teléfono para chatear o revisar redes ajenas al restaurante. No existe una experiencia interactiva que vincule la pantalla de televisión del bar con la mesa del cliente.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737360"/>
            <a:ext cx="3413455" cy="4297680"/>
          </a:xfrm>
          <a:prstGeom prst="roundRect">
            <a:avLst/>
          </a:prstGeom>
          <a:solidFill>
            <a:srgbClr val="161C2A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2011680"/>
            <a:ext cx="28648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00E676"/>
                </a:solidFill>
              </a:defRPr>
            </a:pPr>
            <a:r>
              <a:t>💵 Pérdida de Potencial de Consumo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Una mesa entretenida y compitiendo amistosamente consume más bebidas, alitas y botanas. Sin dinamismo, el ticket promedio se estanca tras el primer pedido inicial.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B612"/>
                </a:solidFill>
              </a:defRPr>
            </a:pPr>
            <a:r>
              <a:t>DRINKS &amp; WINS • PLATAFORMA DE GAMIFICACIÓN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La Solución: Gamificación en Mesa sin Fricción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6583680" cy="4480560"/>
          </a:xfrm>
          <a:prstGeom prst="roundRect">
            <a:avLst/>
          </a:prstGeom>
          <a:solidFill>
            <a:srgbClr val="161C2A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852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B612"/>
                </a:solidFill>
              </a:defRPr>
            </a:pPr>
            <a:r>
              <a:t>📲 100% Web (Sin Descargas)</a:t>
            </a:r>
          </a:p>
          <a:p>
            <a:pPr>
              <a:spcAft>
                <a:spcPts val="1200"/>
              </a:spcAft>
              <a:defRPr sz="1200">
                <a:solidFill>
                  <a:srgbClr val="FFFFFF"/>
                </a:solidFill>
              </a:defRPr>
            </a:pPr>
            <a:r>
              <a:t>El cliente escanea el código QR de su mesa y entra directo desde su navegador en 3 segundos. Cero descargas pesadas de App Store o Play Store.</a:t>
            </a:r>
          </a:p>
          <a:p>
            <a:pPr>
              <a:spcAft>
                <a:spcPts val="200"/>
              </a:spcAft>
              <a:defRPr sz="1500" b="1">
                <a:solidFill>
                  <a:srgbClr val="FFB612"/>
                </a:solidFill>
              </a:defRPr>
            </a:pPr>
            <a:r>
              <a:t>🏆 Emoción Deportiva en Vivo</a:t>
            </a:r>
          </a:p>
          <a:p>
            <a:pPr>
              <a:spcAft>
                <a:spcPts val="1200"/>
              </a:spcAft>
              <a:defRPr sz="1200">
                <a:solidFill>
                  <a:srgbClr val="FFFFFF"/>
                </a:solidFill>
              </a:defRPr>
            </a:pPr>
            <a:r>
              <a:t>Pronósticos, quinielas y trivias conectadas en tiempo real a los marcadores oficiales de ESPN. Cada anotación en la TV cambia la tabla en su celular.</a:t>
            </a:r>
          </a:p>
          <a:p>
            <a:pPr>
              <a:spcAft>
                <a:spcPts val="200"/>
              </a:spcAft>
              <a:defRPr sz="1500" b="1">
                <a:solidFill>
                  <a:srgbClr val="FFB612"/>
                </a:solidFill>
              </a:defRPr>
            </a:pPr>
            <a:r>
              <a:t>🍻 Recompensas Reales del Restaurante</a:t>
            </a:r>
          </a:p>
          <a:p>
            <a:pPr>
              <a:spcAft>
                <a:spcPts val="1200"/>
              </a:spcAft>
              <a:defRPr sz="1200">
                <a:solidFill>
                  <a:srgbClr val="FFFFFF"/>
                </a:solidFill>
              </a:defRPr>
            </a:pPr>
            <a:r>
              <a:t>Los ganadores reciben premios del bar (cervezas, alitas, descuentos en su próxima visita). El premio incentiva la permanencia y el retorno.</a:t>
            </a:r>
          </a:p>
          <a:p>
            <a:pPr>
              <a:spcAft>
                <a:spcPts val="200"/>
              </a:spcAft>
              <a:defRPr sz="1500" b="1">
                <a:solidFill>
                  <a:srgbClr val="FFB612"/>
                </a:solidFill>
              </a:defRPr>
            </a:pPr>
            <a:r>
              <a:t>👨‍🍳 Conexión con el Personal (Meseros)</a:t>
            </a:r>
          </a:p>
          <a:p>
            <a:pPr>
              <a:spcAft>
                <a:spcPts val="1200"/>
              </a:spcAft>
              <a:defRPr sz="1200">
                <a:solidFill>
                  <a:srgbClr val="FFFFFF"/>
                </a:solidFill>
              </a:defRPr>
            </a:pPr>
            <a:r>
              <a:t>Cada comensal asocia su participación a su mesero. Los meseros se convierten en embajadores del juego y aumentan sus propinas por mayor consumo.</a:t>
            </a:r>
          </a:p>
        </p:txBody>
      </p:sp>
      <p:pic>
        <p:nvPicPr>
          <p:cNvPr id="5" name="Picture 4" descr="tarjeta_1_que_es_drinks_and_w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737360"/>
            <a:ext cx="2520315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B612"/>
                </a:solidFill>
              </a:defRPr>
            </a:pPr>
            <a:r>
              <a:t>DRINKS &amp; WINS • PLATAFORMA DE GAMIFICACIÓN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6 Juegos Diseñados para Cada Deporte y Momento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3413455" cy="2011680"/>
          </a:xfrm>
          <a:prstGeom prst="roundRect">
            <a:avLst/>
          </a:prstGeom>
          <a:solidFill>
            <a:srgbClr val="161C2A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dge_quinie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11680"/>
            <a:ext cx="727492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54480" y="1965960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B612"/>
                </a:solidFill>
              </a:defRPr>
            </a:pPr>
            <a:r>
              <a:t>🏈 Quinielas Pick'em</a:t>
            </a:r>
          </a:p>
          <a:p>
            <a:pPr>
              <a:spcAft>
                <a:spcPts val="400"/>
              </a:spcAft>
              <a:defRPr sz="950" b="1">
                <a:solidFill>
                  <a:srgbClr val="FF5722"/>
                </a:solidFill>
              </a:defRPr>
            </a:pPr>
            <a:r>
              <a:t>NFL &amp; LIGA MX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Pronósticos de ganadores y marcadores exactos con ranking en vivo.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737360"/>
            <a:ext cx="3413455" cy="2011680"/>
          </a:xfrm>
          <a:prstGeom prst="roundRect">
            <a:avLst/>
          </a:prstGeom>
          <a:solidFill>
            <a:srgbClr val="161C2A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dge_gri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011680"/>
            <a:ext cx="667265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12080" y="1965960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B612"/>
                </a:solidFill>
              </a:defRPr>
            </a:pPr>
            <a:r>
              <a:t>🏁 Football Grids</a:t>
            </a:r>
          </a:p>
          <a:p>
            <a:pPr>
              <a:spcAft>
                <a:spcPts val="400"/>
              </a:spcAft>
              <a:defRPr sz="950" b="1">
                <a:solidFill>
                  <a:srgbClr val="FF5722"/>
                </a:solidFill>
              </a:defRPr>
            </a:pPr>
            <a:r>
              <a:t>NFL ESPECIAL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Cuadrícula digital de 100 casillas con ganadores por cada cuarto.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737360"/>
            <a:ext cx="3413455" cy="2011680"/>
          </a:xfrm>
          <a:prstGeom prst="roundRect">
            <a:avLst/>
          </a:prstGeom>
          <a:solidFill>
            <a:srgbClr val="161C2A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adge_surviv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011680"/>
            <a:ext cx="753301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869680" y="1965960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B612"/>
                </a:solidFill>
              </a:defRPr>
            </a:pPr>
            <a:r>
              <a:t>🛡️ Survivor NFL</a:t>
            </a:r>
          </a:p>
          <a:p>
            <a:pPr>
              <a:spcAft>
                <a:spcPts val="400"/>
              </a:spcAft>
              <a:defRPr sz="950" b="1">
                <a:solidFill>
                  <a:srgbClr val="FF5722"/>
                </a:solidFill>
              </a:defRPr>
            </a:pPr>
            <a:r>
              <a:t>SEMANA A SEMANA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Elige 1 equipo ganador por semana sin repetir. El último en pie gana.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3413455" cy="2011680"/>
          </a:xfrm>
          <a:prstGeom prst="roundRect">
            <a:avLst/>
          </a:prstGeom>
          <a:solidFill>
            <a:srgbClr val="161C2A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adge_firststrik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297680"/>
            <a:ext cx="656662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54480" y="4251960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B612"/>
                </a:solidFill>
              </a:defRPr>
            </a:pPr>
            <a:r>
              <a:t>⚽ First Striker</a:t>
            </a:r>
          </a:p>
          <a:p>
            <a:pPr>
              <a:spcAft>
                <a:spcPts val="400"/>
              </a:spcAft>
              <a:defRPr sz="950" b="1">
                <a:solidFill>
                  <a:srgbClr val="FF5722"/>
                </a:solidFill>
              </a:defRPr>
            </a:pPr>
            <a:r>
              <a:t>FÚTBOL EN VIVO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Predice qué equipo y en qué bloque de 15 min caerá el primer gol.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4023360"/>
            <a:ext cx="3413455" cy="2011680"/>
          </a:xfrm>
          <a:prstGeom prst="roundRect">
            <a:avLst/>
          </a:prstGeom>
          <a:solidFill>
            <a:srgbClr val="161C2A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adge_trivi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4297680"/>
            <a:ext cx="697667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12080" y="4251960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B612"/>
                </a:solidFill>
              </a:defRPr>
            </a:pPr>
            <a:r>
              <a:t>🧠 Trivia en Vivo</a:t>
            </a:r>
          </a:p>
          <a:p>
            <a:pPr>
              <a:spcAft>
                <a:spcPts val="400"/>
              </a:spcAft>
              <a:defRPr sz="950" b="1">
                <a:solidFill>
                  <a:srgbClr val="FF5722"/>
                </a:solidFill>
              </a:defRPr>
            </a:pPr>
            <a:r>
              <a:t>INTERACTIVO EN TV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Preguntas deportivas compitiendo en tiempo real contra otras mesas.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4023360"/>
            <a:ext cx="3413455" cy="2011680"/>
          </a:xfrm>
          <a:prstGeom prst="roundRect">
            <a:avLst/>
          </a:prstGeom>
          <a:solidFill>
            <a:srgbClr val="161C2A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badge_bin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297680"/>
            <a:ext cx="701426" cy="5486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69680" y="4251960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B612"/>
                </a:solidFill>
              </a:defRPr>
            </a:pPr>
            <a:r>
              <a:t>🎯 Bar Bingo</a:t>
            </a:r>
          </a:p>
          <a:p>
            <a:pPr>
              <a:spcAft>
                <a:spcPts val="400"/>
              </a:spcAft>
              <a:defRPr sz="950" b="1">
                <a:solidFill>
                  <a:srgbClr val="FF5722"/>
                </a:solidFill>
              </a:defRPr>
            </a:pPr>
            <a:r>
              <a:t>TODO EL PARTIDO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Cartones con eventos del juego (Touchdown, Gol de Campo, etc.).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B612"/>
                </a:solidFill>
              </a:defRPr>
            </a:pPr>
            <a:r>
              <a:t>DRINKS &amp; WINS • PLATAFORMA DE GAMIFICACIÓN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Quinielas Pick'em: El Motor de Competencia en Vivo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6858000" cy="4480560"/>
          </a:xfrm>
          <a:prstGeom prst="roundRect">
            <a:avLst/>
          </a:prstGeom>
          <a:solidFill>
            <a:srgbClr val="161C2A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6126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FFB612"/>
                </a:solidFill>
              </a:defRPr>
            </a:pPr>
            <a:r>
              <a:t>🎯 Sistema de Puntos Transparente</a:t>
            </a:r>
          </a:p>
          <a:p>
            <a:pPr>
              <a:spcAft>
                <a:spcPts val="1400"/>
              </a:spcAft>
              <a:defRPr sz="1200">
                <a:solidFill>
                  <a:srgbClr val="FFFFFF"/>
                </a:solidFill>
              </a:defRPr>
            </a:pPr>
            <a:r>
              <a:t>• Marcador Exacto: +3 Puntos (Ej: Pronosticó 2-1 y el juego terminó 2-1).</a:t>
            </a:r>
            <a:br/>
            <a:r>
              <a:t>• Ganador / Empate Acertado: +1 Punto (Atinó quién ganó aunque falló el marcador).</a:t>
            </a:r>
            <a:br/>
            <a:r>
              <a:t>• Fallo: 0 Puntos.</a:t>
            </a:r>
          </a:p>
          <a:p>
            <a:pPr>
              <a:spcAft>
                <a:spcPts val="300"/>
              </a:spcAft>
              <a:defRPr sz="1500" b="1">
                <a:solidFill>
                  <a:srgbClr val="FFB612"/>
                </a:solidFill>
              </a:defRPr>
            </a:pPr>
            <a:r>
              <a:t>⚡ Conexión Directa con ESPN (Cero Trabajo Manual)</a:t>
            </a:r>
          </a:p>
          <a:p>
            <a:pPr>
              <a:spcAft>
                <a:spcPts val="1400"/>
              </a:spcAft>
              <a:defRPr sz="1200">
                <a:solidFill>
                  <a:srgbClr val="FFFFFF"/>
                </a:solidFill>
              </a:defRPr>
            </a:pPr>
            <a:r>
              <a:t>Los resultados se actualizan automáticamente vía API de ESPN. Cuando cae un touchdown o gol, la tabla recalcula puntos en vivo sin intervención del personal.</a:t>
            </a:r>
          </a:p>
          <a:p>
            <a:pPr>
              <a:spcAft>
                <a:spcPts val="300"/>
              </a:spcAft>
              <a:defRPr sz="1500" b="1">
                <a:solidFill>
                  <a:srgbClr val="FFB612"/>
                </a:solidFill>
              </a:defRPr>
            </a:pPr>
            <a:r>
              <a:t>👑 Podio y Ganador Oficial Automatizado</a:t>
            </a:r>
          </a:p>
          <a:p>
            <a:pPr>
              <a:spcAft>
                <a:spcPts val="1400"/>
              </a:spcAft>
              <a:defRPr sz="1200">
                <a:solidFill>
                  <a:srgbClr val="FFFFFF"/>
                </a:solidFill>
              </a:defRPr>
            </a:pPr>
            <a:r>
              <a:t>Al terminar la jornada, se corona al campeón oficial con tarjeta de premiación digital y podio de 1º, 2º y 3º lugar, listo para canje en barra.</a:t>
            </a:r>
          </a:p>
        </p:txBody>
      </p:sp>
      <p:pic>
        <p:nvPicPr>
          <p:cNvPr id="5" name="Picture 4" descr="screenshot_podium_stan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737360"/>
            <a:ext cx="8496469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B612"/>
                </a:solidFill>
              </a:defRPr>
            </a:pPr>
            <a:r>
              <a:t>DRINKS &amp; WINS • PLATAFORMA DE GAMIFICACIÓN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Juegos Especializados: NFL Grids y First Striker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5212080" cy="4480560"/>
          </a:xfrm>
          <a:prstGeom prst="roundRect">
            <a:avLst/>
          </a:prstGeom>
          <a:solidFill>
            <a:srgbClr val="161C2A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4663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FB612"/>
                </a:solidFill>
              </a:defRPr>
            </a:pPr>
            <a:r>
              <a:t>🏁 Football Grids (100 Casillas)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Cuadrícula 10x10 donde cada comensal elige sus casillas favoritas.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Al inicio del juego, se sortean los dígitos finales de cada equipo.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¡4 Ganadores por partido! Se premia al final del 1er Cuarto, 2do Cuarto, 3er Cuarto y Marcador Final.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Mantiene a los clientes atentos y pidiendo rondas de bebidas durante las 3 horas de transmisión.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5212080" cy="4480560"/>
          </a:xfrm>
          <a:prstGeom prst="roundRect">
            <a:avLst/>
          </a:prstGeom>
          <a:solidFill>
            <a:srgbClr val="161C2A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2011680"/>
            <a:ext cx="4663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F5722"/>
                </a:solidFill>
              </a:defRPr>
            </a:pPr>
            <a:r>
              <a:t>⚽ First Striker Wins (Primer Gol)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El juego de acción rápida ideal para partidos de Liga MX y Champions League.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Los comensales eligen el bloque de 15 minutos en que caerá el primer gol (1-15', 16-30', etc.) y al jugador que anotará.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Genera adrenalina inmediata desde el silbatazo inicial.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Fácil de explicar por los meseros y rápido de jugar mientras esperan su orden de comida.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B612"/>
                </a:solidFill>
              </a:defRPr>
            </a:pPr>
            <a:r>
              <a:t>DRINKS &amp; WINS • PLATAFORMA DE GAMIFICACIÓN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Experiencia del Comensal en 3 Pasos Sencillos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3413455" cy="4297680"/>
          </a:xfrm>
          <a:prstGeom prst="roundRect">
            <a:avLst/>
          </a:prstGeom>
          <a:solidFill>
            <a:srgbClr val="161C2A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28648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FFB612"/>
                </a:solidFill>
              </a:defRPr>
            </a:pPr>
            <a:r>
              <a:t>1. LLEGADA Y ESCANEO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📱 En su mesa encuentra un caballete o mantel con código QR. Abre su cámara, escanea e ingresa instantáneamente con su cuenta de Google o nombre.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737360"/>
            <a:ext cx="3413455" cy="4297680"/>
          </a:xfrm>
          <a:prstGeom prst="roundRect">
            <a:avLst/>
          </a:prstGeom>
          <a:solidFill>
            <a:srgbClr val="161C2A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0" y="2011680"/>
            <a:ext cx="28648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FF5722"/>
                </a:solidFill>
              </a:defRPr>
            </a:pPr>
            <a:r>
              <a:t>2. SELECCIÓN Y PRONÓSTICO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🏈 Selecciona a su mesero, introduce sus marcadores o casillas y confirma en un solo toque antes del inicio del juego.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737360"/>
            <a:ext cx="3413455" cy="4297680"/>
          </a:xfrm>
          <a:prstGeom prst="roundRect">
            <a:avLst/>
          </a:prstGeom>
          <a:solidFill>
            <a:srgbClr val="161C2A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2011680"/>
            <a:ext cx="28648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00E676"/>
                </a:solidFill>
              </a:defRPr>
            </a:pPr>
            <a:r>
              <a:t>3. VIVE LA EMOCIÓN Y GANA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🏆 Conforme avanza el partido en las pantallas del bar, ve subir su posición en la tabla en vivo. Al ganar, muestra su cupón digital al mesero o en barra.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B612"/>
                </a:solidFill>
              </a:defRPr>
            </a:pPr>
            <a:r>
              <a:t>DRINKS &amp; WINS • PLATAFORMA DE GAMIFICACIÓN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Panel de Administración: Control Total en Minutos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6858000" cy="4480560"/>
          </a:xfrm>
          <a:prstGeom prst="roundRect">
            <a:avLst/>
          </a:prstGeom>
          <a:solidFill>
            <a:srgbClr val="161C2A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6126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50" b="1">
                <a:solidFill>
                  <a:srgbClr val="FFB612"/>
                </a:solidFill>
              </a:defRPr>
            </a:pPr>
            <a:r>
              <a:t>⚡ Creación de Quinielas en 60 Segundos</a:t>
            </a:r>
          </a:p>
          <a:p>
            <a:pPr>
              <a:spcAft>
                <a:spcPts val="1000"/>
              </a:spcAft>
              <a:defRPr sz="1150">
                <a:solidFill>
                  <a:srgbClr val="FFFFFF"/>
                </a:solidFill>
              </a:defRPr>
            </a:pPr>
            <a:r>
              <a:t>El gerente solo elige el deporte (NFL, Liga MX, Premier, Champions) y la jornada. El sistema importa automáticamente partidos, horarios y escudos oficiales de ESPN.</a:t>
            </a:r>
          </a:p>
          <a:p>
            <a:pPr>
              <a:spcAft>
                <a:spcPts val="200"/>
              </a:spcAft>
              <a:defRPr sz="1450" b="1">
                <a:solidFill>
                  <a:srgbClr val="FFB612"/>
                </a:solidFill>
              </a:defRPr>
            </a:pPr>
            <a:r>
              <a:t>👥 Control y Aprobación de Jugadores</a:t>
            </a:r>
          </a:p>
          <a:p>
            <a:pPr>
              <a:spcAft>
                <a:spcPts val="1000"/>
              </a:spcAft>
              <a:defRPr sz="1150">
                <a:solidFill>
                  <a:srgbClr val="FFFFFF"/>
                </a:solidFill>
              </a:defRPr>
            </a:pPr>
            <a:r>
              <a:t>Visualiza en tiempo real quién se unió a cada juego, qué mesero lo atendió y aprueba o gestiona participantes desde cualquier celular o tablet.</a:t>
            </a:r>
          </a:p>
          <a:p>
            <a:pPr>
              <a:spcAft>
                <a:spcPts val="200"/>
              </a:spcAft>
              <a:defRPr sz="1450" b="1">
                <a:solidFill>
                  <a:srgbClr val="FFB612"/>
                </a:solidFill>
              </a:defRPr>
            </a:pPr>
            <a:r>
              <a:t>🎁 Configuración de Premios y Vouchers</a:t>
            </a:r>
          </a:p>
          <a:p>
            <a:pPr>
              <a:spcAft>
                <a:spcPts val="1000"/>
              </a:spcAft>
              <a:defRPr sz="1150">
                <a:solidFill>
                  <a:srgbClr val="FFFFFF"/>
                </a:solidFill>
              </a:defRPr>
            </a:pPr>
            <a:r>
              <a:t>Define qué premio se entregará (ej. 1 Orden de Boneless, Jarra de Cerveza o % de Descuento en la siguiente cuenta).</a:t>
            </a:r>
          </a:p>
          <a:p>
            <a:pPr>
              <a:spcAft>
                <a:spcPts val="200"/>
              </a:spcAft>
              <a:defRPr sz="1450" b="1">
                <a:solidFill>
                  <a:srgbClr val="FFB612"/>
                </a:solidFill>
              </a:defRPr>
            </a:pPr>
            <a:r>
              <a:t>🛡️ Seguridad y Control de Fraude</a:t>
            </a:r>
          </a:p>
          <a:p>
            <a:pPr>
              <a:spcAft>
                <a:spcPts val="1000"/>
              </a:spcAft>
              <a:defRPr sz="1150">
                <a:solidFill>
                  <a:srgbClr val="FFFFFF"/>
                </a:solidFill>
              </a:defRPr>
            </a:pPr>
            <a:r>
              <a:t>Los pronósticos se bloquean automáticamente en cuanto inicia el primer partido. Nadie puede editar marcadores una vez arrancado el juego.</a:t>
            </a:r>
          </a:p>
        </p:txBody>
      </p:sp>
      <p:pic>
        <p:nvPicPr>
          <p:cNvPr id="5" name="Picture 4" descr="screenshot_admin_p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920240"/>
            <a:ext cx="3566160" cy="130861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B612"/>
                </a:solidFill>
              </a:defRPr>
            </a:pPr>
            <a:r>
              <a:t>DRINKS &amp; WINS • PLATAFORMA DE GAMIFICACIÓN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Estrategia de Premios: Diseñada para Proteger el Margen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3413455" cy="4297680"/>
          </a:xfrm>
          <a:prstGeom prst="roundRect">
            <a:avLst/>
          </a:prstGeom>
          <a:solidFill>
            <a:srgbClr val="161C2A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28648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FFB612"/>
                </a:solidFill>
              </a:defRPr>
            </a:pPr>
            <a:r>
              <a:t>🍔 Premios de Alto Valor Percibido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Entregar una orden de alitas o una cerveza tiene un costo operativo bajo para la cocina pero un valor percibido de $150-$250 MXN para el cliente. Es el incentivo perfecto sin erosionar margen.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737360"/>
            <a:ext cx="3413455" cy="4297680"/>
          </a:xfrm>
          <a:prstGeom prst="roundRect">
            <a:avLst/>
          </a:prstGeom>
          <a:solidFill>
            <a:srgbClr val="161C2A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0" y="2011680"/>
            <a:ext cx="28648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00E676"/>
                </a:solidFill>
              </a:defRPr>
            </a:pPr>
            <a:r>
              <a:t>🔄 Recompensa Condicionada a Consumo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Los premios se canjean en la mesa mientras el grupo sigue consumiendo, o como cupón para su siguiente visita. El ganador celebra y suele pedir una ronda extra para brindar con sus amigos.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737360"/>
            <a:ext cx="3413455" cy="4297680"/>
          </a:xfrm>
          <a:prstGeom prst="roundRect">
            <a:avLst/>
          </a:prstGeom>
          <a:solidFill>
            <a:srgbClr val="161C2A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2011680"/>
            <a:ext cx="28648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FF5722"/>
                </a:solidFill>
              </a:defRPr>
            </a:pPr>
            <a:r>
              <a:t>📊 Captura de Clientes Frecuentes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El restaurante construye una base de datos propia de fanáticos recurrentes para enviar avisos de partidos importantes, promociones y eventos especiales de NFL y liguilla.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B612"/>
                </a:solidFill>
              </a:defRPr>
            </a:pPr>
            <a:r>
              <a:t>DRINKS &amp; WINS • PLATAFORMA DE GAMIFICACIÓN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Gamificación para el Equipo: Meseros como Embajadores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0728655" cy="4480560"/>
          </a:xfrm>
          <a:prstGeom prst="roundRect">
            <a:avLst/>
          </a:prstGeom>
          <a:solidFill>
            <a:srgbClr val="161C2A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9966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B612"/>
                </a:solidFill>
              </a:defRPr>
            </a:pPr>
            <a:r>
              <a:t>🙋 Atribución Transparente en Cada Registro</a:t>
            </a:r>
          </a:p>
          <a:p>
            <a:pPr>
              <a:spcAft>
                <a:spcPts val="1000"/>
              </a:spcAft>
              <a:defRPr sz="1200">
                <a:solidFill>
                  <a:srgbClr val="FFFFFF"/>
                </a:solidFill>
              </a:defRPr>
            </a:pPr>
            <a:r>
              <a:t>Al entrar a la quiniela, el cliente selecciona el nombre de su mesero en un menú desplegable. Esto permite saber qué colaborador está invitando activamente a las mesas.</a:t>
            </a:r>
          </a:p>
          <a:p>
            <a:pPr>
              <a:spcAft>
                <a:spcPts val="200"/>
              </a:spcAft>
              <a:defRPr sz="1500" b="1">
                <a:solidFill>
                  <a:srgbClr val="FFB612"/>
                </a:solidFill>
              </a:defRPr>
            </a:pPr>
            <a:r>
              <a:t>💰 Mayor Tiempo de Mesa = Mayor Ticket = Más Propina</a:t>
            </a:r>
          </a:p>
          <a:p>
            <a:pPr>
              <a:spcAft>
                <a:spcPts val="1000"/>
              </a:spcAft>
              <a:defRPr sz="1200">
                <a:solidFill>
                  <a:srgbClr val="FFFFFF"/>
                </a:solidFill>
              </a:defRPr>
            </a:pPr>
            <a:r>
              <a:t>Los meseros entienden el beneficio directo: si la mesa se queda viendo el partido para ver si gana su quiniela, pedirán más rondas de cerveza y comida, aumentando la cuenta y la propina final.</a:t>
            </a:r>
          </a:p>
          <a:p>
            <a:pPr>
              <a:spcAft>
                <a:spcPts val="200"/>
              </a:spcAft>
              <a:defRPr sz="1500" b="1">
                <a:solidFill>
                  <a:srgbClr val="FFB612"/>
                </a:solidFill>
              </a:defRPr>
            </a:pPr>
            <a:r>
              <a:t>🏆 Competencia Interna del Personal</a:t>
            </a:r>
          </a:p>
          <a:p>
            <a:pPr>
              <a:spcAft>
                <a:spcPts val="1000"/>
              </a:spcAft>
              <a:defRPr sz="1200">
                <a:solidFill>
                  <a:srgbClr val="FFFFFF"/>
                </a:solidFill>
              </a:defRPr>
            </a:pPr>
            <a:r>
              <a:t>El restaurante puede premiar al mesero con más comensales registrados en la semana (ej. bono simbólico, turno preferencial, reconocimiento en junta de servicio).</a:t>
            </a:r>
          </a:p>
          <a:p>
            <a:pPr>
              <a:spcAft>
                <a:spcPts val="200"/>
              </a:spcAft>
              <a:defRPr sz="1500" b="1">
                <a:solidFill>
                  <a:srgbClr val="FFB612"/>
                </a:solidFill>
              </a:defRPr>
            </a:pPr>
            <a:r>
              <a:t>💬 Rompehielos Natural en Mesa</a:t>
            </a:r>
          </a:p>
          <a:p>
            <a:pPr>
              <a:spcAft>
                <a:spcPts val="1000"/>
              </a:spcAft>
              <a:defRPr sz="1200">
                <a:solidFill>
                  <a:srgbClr val="FFFFFF"/>
                </a:solidFill>
              </a:defRPr>
            </a:pPr>
            <a:r>
              <a:t>En lugar del clásico '¿Se les ofrece algo más?', el mesero pregunta: '¿Ya metieron su quiniela gratis para ganarse unas alitas hoy?'. Crea conexión inmediata.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B612"/>
                </a:solidFill>
              </a:defRPr>
            </a:pPr>
            <a:r>
              <a:t>DRINKS &amp; WINS • PLATAFORMA DE GAMIFICACIÓN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Métricas Clave de Negocio (KPIs y Retorno)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2499055" cy="4297680"/>
          </a:xfrm>
          <a:prstGeom prst="roundRect">
            <a:avLst/>
          </a:prstGeom>
          <a:solidFill>
            <a:srgbClr val="161C2A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213329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3600" b="1">
                <a:solidFill>
                  <a:srgbClr val="FFB612"/>
                </a:solidFill>
              </a:defRPr>
            </a:pPr>
            <a:r>
              <a:t>+35%</a:t>
            </a:r>
          </a:p>
          <a:p>
            <a:pPr algn="ctr">
              <a:spcAft>
                <a:spcPts val="1400"/>
              </a:spcAft>
              <a:defRPr sz="1100" b="1">
                <a:solidFill>
                  <a:srgbClr val="FFB612"/>
                </a:solidFill>
              </a:defRPr>
            </a:pPr>
            <a:r>
              <a:t>TIEMPO DE ESTANCIA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Los clientes permanecen durante todo el evento deportivo en lugar de pedir la cuenta al medio tiempo.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737360"/>
            <a:ext cx="2499055" cy="4297680"/>
          </a:xfrm>
          <a:prstGeom prst="roundRect">
            <a:avLst/>
          </a:prstGeom>
          <a:solidFill>
            <a:srgbClr val="161C2A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2011680"/>
            <a:ext cx="213329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3600" b="1">
                <a:solidFill>
                  <a:srgbClr val="00E676"/>
                </a:solidFill>
              </a:defRPr>
            </a:pPr>
            <a:r>
              <a:t>+22%</a:t>
            </a:r>
          </a:p>
          <a:p>
            <a:pPr algn="ctr">
              <a:spcAft>
                <a:spcPts val="1400"/>
              </a:spcAft>
              <a:defRPr sz="1100" b="1">
                <a:solidFill>
                  <a:srgbClr val="FFB612"/>
                </a:solidFill>
              </a:defRPr>
            </a:pPr>
            <a:r>
              <a:t>TICKET PROMEDIO (AOV)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El ambiente competitivo estimula pedidos repetidos de bebidas y snacks durante las fases finales del juego.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2499055" cy="4297680"/>
          </a:xfrm>
          <a:prstGeom prst="roundRect">
            <a:avLst/>
          </a:prstGeom>
          <a:solidFill>
            <a:srgbClr val="161C2A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213329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3600" b="1">
                <a:solidFill>
                  <a:srgbClr val="FF5722"/>
                </a:solidFill>
              </a:defRPr>
            </a:pPr>
            <a:r>
              <a:t>3x</a:t>
            </a:r>
          </a:p>
          <a:p>
            <a:pPr algn="ctr">
              <a:spcAft>
                <a:spcPts val="1400"/>
              </a:spcAft>
              <a:defRPr sz="1100" b="1">
                <a:solidFill>
                  <a:srgbClr val="FFB612"/>
                </a:solidFill>
              </a:defRPr>
            </a:pPr>
            <a:r>
              <a:t>RETENCIÓN SEMANAL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El fanático regresa la semana siguiente para defender su posición en la tabla de la temporada.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737360"/>
            <a:ext cx="2499055" cy="4297680"/>
          </a:xfrm>
          <a:prstGeom prst="roundRect">
            <a:avLst/>
          </a:prstGeom>
          <a:solidFill>
            <a:srgbClr val="161C2A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2011680"/>
            <a:ext cx="213329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3600" b="1">
                <a:solidFill>
                  <a:srgbClr val="FFFFFF"/>
                </a:solidFill>
              </a:defRPr>
            </a:pPr>
            <a:r>
              <a:t>$0</a:t>
            </a:r>
          </a:p>
          <a:p>
            <a:pPr algn="ctr">
              <a:spcAft>
                <a:spcPts val="1400"/>
              </a:spcAft>
              <a:defRPr sz="1100" b="1">
                <a:solidFill>
                  <a:srgbClr val="FFB612"/>
                </a:solidFill>
              </a:defRPr>
            </a:pPr>
            <a:r>
              <a:t>COSTO DE PAPELERÍA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Eliminación absoluta de papeletas impresas, plumas extraviadas y conteos manuales con margen de error.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B612"/>
                </a:solidFill>
              </a:defRPr>
            </a:pPr>
            <a:r>
              <a:t>DRINKS &amp; WINS • PLATAFORMA DE GAMIFICACIÓN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Próximos Pasos: Lanzamiento Rápido en Sucursal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0728655" cy="4480560"/>
          </a:xfrm>
          <a:prstGeom prst="roundRect">
            <a:avLst/>
          </a:prstGeom>
          <a:solidFill>
            <a:srgbClr val="161C2A"/>
          </a:solidFill>
          <a:ln w="19050"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9966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B612"/>
                </a:solidFill>
              </a:defRPr>
            </a:pPr>
            <a:r>
              <a:t>Fase 1: Material en Mesas (Día 1)</a:t>
            </a:r>
          </a:p>
          <a:p>
            <a:pPr>
              <a:spcAft>
                <a:spcPts val="1200"/>
              </a:spcAft>
              <a:defRPr sz="1200">
                <a:solidFill>
                  <a:srgbClr val="FFFFFF"/>
                </a:solidFill>
              </a:defRPr>
            </a:pPr>
            <a:r>
              <a:t>Colocación de códigos QR en acrílicos de mesa y banners de bienvenida en pantallas de bar.</a:t>
            </a:r>
          </a:p>
          <a:p>
            <a:pPr>
              <a:spcAft>
                <a:spcPts val="200"/>
              </a:spcAft>
              <a:defRPr sz="1500" b="1">
                <a:solidFill>
                  <a:srgbClr val="FFB612"/>
                </a:solidFill>
              </a:defRPr>
            </a:pPr>
            <a:r>
              <a:t>Fase 2: Capacitación Express de 15 Minutos (Día 2)</a:t>
            </a:r>
          </a:p>
          <a:p>
            <a:pPr>
              <a:spcAft>
                <a:spcPts val="1200"/>
              </a:spcAft>
              <a:defRPr sz="1200">
                <a:solidFill>
                  <a:srgbClr val="FFFFFF"/>
                </a:solidFill>
              </a:defRPr>
            </a:pPr>
            <a:r>
              <a:t>Demostración rápida al equipo de gerencia y meseros: cómo invitar al cliente y cómo verificar ganadores.</a:t>
            </a:r>
          </a:p>
          <a:p>
            <a:pPr>
              <a:spcAft>
                <a:spcPts val="200"/>
              </a:spcAft>
              <a:defRPr sz="1500" b="1">
                <a:solidFill>
                  <a:srgbClr val="FFB612"/>
                </a:solidFill>
              </a:defRPr>
            </a:pPr>
            <a:r>
              <a:t>Fase 3: Jornada Piloto de Estreno (Fin de Semana)</a:t>
            </a:r>
          </a:p>
          <a:p>
            <a:pPr>
              <a:spcAft>
                <a:spcPts val="1200"/>
              </a:spcAft>
              <a:defRPr sz="1200">
                <a:solidFill>
                  <a:srgbClr val="FFFFFF"/>
                </a:solidFill>
              </a:defRPr>
            </a:pPr>
            <a:r>
              <a:t>Lanzamiento oficial en el partido estelar de la semana (ej. Domingo de NFL o Clásico de Liga MX).</a:t>
            </a:r>
          </a:p>
          <a:p>
            <a:pPr>
              <a:spcAft>
                <a:spcPts val="200"/>
              </a:spcAft>
              <a:defRPr sz="1500" b="1">
                <a:solidFill>
                  <a:srgbClr val="FFB612"/>
                </a:solidFill>
              </a:defRPr>
            </a:pPr>
            <a:r>
              <a:t>Fase 4: Evaluación de Resultados y Expansión</a:t>
            </a:r>
          </a:p>
          <a:p>
            <a:pPr>
              <a:spcAft>
                <a:spcPts val="1200"/>
              </a:spcAft>
              <a:defRPr sz="1200">
                <a:solidFill>
                  <a:srgbClr val="FFFFFF"/>
                </a:solidFill>
              </a:defRPr>
            </a:pPr>
            <a:r>
              <a:t>Revisión con gerencia de mesas participantes, consumo generado y retroalimentación para afinar premios.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