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669280" cy="539496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79919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B612"/>
                </a:solidFill>
              </a:defRPr>
            </a:pPr>
            <a:r>
              <a:t>PROYECTO DE GAMIFICACIÓN EN MESA • MANUAL OPERATIVO</a:t>
            </a:r>
          </a:p>
          <a:p>
            <a:pPr>
              <a:spcAft>
                <a:spcPts val="600"/>
              </a:spcAft>
              <a:defRPr sz="3800" b="1">
                <a:solidFill>
                  <a:srgbClr val="FFFFFF"/>
                </a:solidFill>
              </a:defRPr>
            </a:pPr>
            <a:r>
              <a:t>DRINKS &amp; WINS</a:t>
            </a:r>
          </a:p>
          <a:p>
            <a:pPr>
              <a:spcAft>
                <a:spcPts val="1200"/>
              </a:spcAft>
              <a:defRPr sz="1500">
                <a:solidFill>
                  <a:srgbClr val="FFD100"/>
                </a:solidFill>
              </a:defRPr>
            </a:pPr>
            <a:r>
              <a:t>La Plataforma Deportiva que Convierte Comensales en Fanáticos Recurrentes</a:t>
            </a:r>
          </a:p>
          <a:p>
            <a:pPr>
              <a:spcAft>
                <a:spcPts val="400"/>
              </a:spcAft>
              <a:defRPr sz="1150" b="1">
                <a:solidFill>
                  <a:srgbClr val="FFFFFF"/>
                </a:solidFill>
              </a:defRPr>
            </a:pPr>
            <a:r>
              <a:t>Presentado por Beto Muñoz • Para Dirección y Gerencia</a:t>
            </a:r>
          </a:p>
          <a:p>
            <a:pPr>
              <a:defRPr sz="1050" i="1">
                <a:solidFill>
                  <a:srgbClr val="9CADC4"/>
                </a:solidFill>
              </a:defRPr>
            </a:pPr>
            <a:r>
              <a:t>«Nacido del cariño al lugar de trabajo, a los clientes y a las propinas que sacan adelante a mi familia»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28816" y="2013253"/>
            <a:ext cx="4986223" cy="2831492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orts_bar_atmosphe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68117"/>
            <a:ext cx="4876495" cy="27217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4863034"/>
            <a:ext cx="4876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Ambiente Deportivo y Conexión en Mesa en Tiempo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DEFINICIÓN &amp; PROPUESTA DE VALOR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¿Qué es Drinks &amp; Wins? Definición, Objetivo y Metas Clave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B612"/>
                </a:solidFill>
              </a:defRPr>
            </a:pPr>
            <a:r>
              <a:t>📱 ¿QUÉ ES DRINKS &amp; WINS?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Plataforma web interactiva (PWA) de entretenimiento y gamificación deportiva en mesa. Conecta las transmisiones de TV con el smartphone del comensal vía código QR (sin descargas). Permite competir en vivo en Grids, Quinielas, Survivor, Primer Gol y Trivias, con el 80% automatizado mediante IA (Gemini) y ESPN.</a:t>
            </a:r>
          </a:p>
          <a:p>
            <a:pPr>
              <a:spcAft>
                <a:spcPts val="200"/>
              </a:spcAft>
              <a:defRPr sz="1200" b="1">
                <a:solidFill>
                  <a:srgbClr val="FF5722"/>
                </a:solidFill>
              </a:defRPr>
            </a:pPr>
            <a:r>
              <a:t>🎯 OBJETIVOS ESTRATÉGICOS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5722"/>
                </a:solidFill>
              </a:rPr>
              <a:t>1. Activar al Comensal: </a:t>
            </a:r>
            <a:r>
              <a:rPr sz="950">
                <a:solidFill>
                  <a:srgbClr val="FFFFFF"/>
                </a:solidFill>
              </a:rPr>
              <a:t>Transformarlo de espectador pasivo en participante apasionado.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5722"/>
                </a:solidFill>
              </a:rPr>
              <a:t>2. Elevar Ticket en Mesa: </a:t>
            </a:r>
            <a:r>
              <a:rPr sz="950">
                <a:solidFill>
                  <a:srgbClr val="FFFFFF"/>
                </a:solidFill>
              </a:rPr>
              <a:t>Estimular rondas adicionales de cerveza y botanas.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5722"/>
                </a:solidFill>
              </a:rPr>
              <a:t>3. Fidelización 3x: </a:t>
            </a:r>
            <a:r>
              <a:rPr sz="950">
                <a:solidFill>
                  <a:srgbClr val="FFFFFF"/>
                </a:solidFill>
              </a:rPr>
              <a:t>Hacer que elija nuestra sucursal semana tras semana.</a:t>
            </a:r>
          </a:p>
          <a:p>
            <a:pPr>
              <a:spcAft>
                <a:spcPts val="200"/>
              </a:spcAft>
              <a:defRPr sz="1200" b="1">
                <a:solidFill>
                  <a:srgbClr val="00E676"/>
                </a:solidFill>
              </a:defRPr>
            </a:pPr>
            <a:r>
              <a:t>🏆 METAS CLAVE (KPIs)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E676"/>
                </a:solidFill>
              </a:rPr>
              <a:t>• +20-25% Ticket Promedio: </a:t>
            </a:r>
            <a:r>
              <a:rPr sz="950">
                <a:solidFill>
                  <a:srgbClr val="FFFFFF"/>
                </a:solidFill>
              </a:rPr>
              <a:t>Mayor venta de bebidas y botanas durante juegos.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E676"/>
                </a:solidFill>
              </a:rPr>
              <a:t>• +35% Tiempo de Estancia: </a:t>
            </a:r>
            <a:r>
              <a:rPr sz="950">
                <a:solidFill>
                  <a:srgbClr val="FFFFFF"/>
                </a:solidFill>
              </a:rPr>
              <a:t>Comensales permanecen hasta el final del partido.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E676"/>
                </a:solidFill>
              </a:rPr>
              <a:t>• $0 Papelería: </a:t>
            </a:r>
            <a:r>
              <a:rPr sz="950">
                <a:solidFill>
                  <a:srgbClr val="FFFFFF"/>
                </a:solidFill>
              </a:rPr>
              <a:t>Cero hojas impresas, cero plumones y cero errores manuales.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555429"/>
            <a:ext cx="4681728" cy="2661541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ns_celebrating_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10293"/>
            <a:ext cx="4572000" cy="2551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23525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Comensales Compitiendo y Celebrando en Mesa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HISTORIA REAL • MOTIVACIÓN Y PROPÓSITO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El Corazón del Proyecto: La Historia de un Barman en Álamos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D100"/>
                </a:solidFill>
              </a:defRPr>
            </a:pPr>
            <a:r>
              <a:t>❤️ «Mi objetivo siempre fue intentar que el cliente estuviera contento: aún si su equipo pierde o si el partido está aburrido. Al ser humano le gusta competir por naturaleza.»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🍺 El Origen en la Barra: </a:t>
            </a:r>
            <a:r>
              <a:rPr sz="1000">
                <a:solidFill>
                  <a:srgbClr val="FFFFFF"/>
                </a:solidFill>
              </a:rPr>
              <a:t>Nació cuando era barman en Álamos. Empecé inventando quinielas y dinámicas en hojas de papel entre mesas. De repente, la gente no solo veía la tele: convivían, gritaban y pedían más rondas de cerveza y alitas.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💬 Clientes Agradecidos: </a:t>
            </a:r>
            <a:r>
              <a:rPr sz="1000">
                <a:solidFill>
                  <a:srgbClr val="FFFFFF"/>
                </a:solidFill>
              </a:rPr>
              <a:t>Esas dinámicas crearon clientes tan fieles que hasta hoy me ven en la calle en Querétaro y me dicen: «¡Beto, qué onda! ¿Para cuándo otra quiniela o trivia?». Gracias a ellos y a sus propinas he sacado adelante a mi familia.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💡 Amor por la Empresa: </a:t>
            </a:r>
            <a:r>
              <a:rPr sz="1000">
                <a:solidFill>
                  <a:srgbClr val="FFFFFF"/>
                </a:solidFill>
              </a:rPr>
              <a:t>No soy programador, ingeniero en software ni diseñador gráfico. Esto se hizo por el gran cariño que le tengo al lugar donde trabajo y a mis clientes.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555429"/>
            <a:ext cx="4681728" cy="2661541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iendly_bartender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10293"/>
            <a:ext cx="4572000" cy="2551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23525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Beto Muñoz • Hospitalidad, Pasión y Servicio en Restaurante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EVOLUCIÓN OPERATIVA &amp; AUTOMATIZACIÓN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De Álamos a Juriquilla: Por Qué la App se Maneja Sola al 80%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5722"/>
                </a:solidFill>
              </a:defRPr>
            </a:pPr>
            <a:r>
              <a:t>⚖️ El Reto Operativo en Juriquilla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• Operación Completa: </a:t>
            </a:r>
            <a:r>
              <a:rPr sz="1000">
                <a:solidFill>
                  <a:srgbClr val="FFFFFF"/>
                </a:solidFill>
              </a:rPr>
              <a:t>En Álamos estaba solo en la barra; en Juriquilla mis deberes atienden a la operación general: cocina, servicio, tiempos y clientes. No se puede descuidar el piso para repartir hojas de papel.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• Clientes Buscando Dinámicas: </a:t>
            </a:r>
            <a:r>
              <a:rPr sz="1000">
                <a:solidFill>
                  <a:srgbClr val="9CADC4"/>
                </a:solidFill>
              </a:rPr>
              <a:t>Muchos clientes llegan buscando los juegos de Álamos, pero el ritmo de piso exige una solución tecnológica autónoma.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00E676"/>
                </a:solidFill>
              </a:defRPr>
            </a:pPr>
            <a:r>
              <a:t>🤖 La Solución Autónoma al 80%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• Creación en Segundos con IA: </a:t>
            </a:r>
            <a:r>
              <a:rPr sz="1000">
                <a:solidFill>
                  <a:srgbClr val="FFFFFF"/>
                </a:solidFill>
              </a:rPr>
              <a:t>Gemini y las APIs de ESPN cargan las jornadas y trivias en 30 segundos sin captura manual.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• Marcadores y Puntos Oficiales: </a:t>
            </a:r>
            <a:r>
              <a:rPr sz="1000">
                <a:solidFill>
                  <a:srgbClr val="FFFFFF"/>
                </a:solidFill>
              </a:rPr>
              <a:t>La app liquida marcadores exactos en vivo sin intervención humana.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• Cero Carga al Personal: </a:t>
            </a:r>
            <a:r>
              <a:rPr sz="1000">
                <a:solidFill>
                  <a:srgbClr val="FFFFFF"/>
                </a:solidFill>
              </a:rPr>
              <a:t>El equipo se enfoca al 100% en atender mesas y despachar comandas.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555429"/>
            <a:ext cx="4681728" cy="2661541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orts_bar_atmosphe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10293"/>
            <a:ext cx="4572000" cy="2551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23525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Operación Eficiente sin Distracción del Personal de Servicio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VALIDACIÓN DE MERCADO • FAN CLUBS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Tracción Real: 71 Miembros en 2 Semanas de 350+ en QRO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🏈 Caso de Éxito: Steelers Nation Querétaro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B612"/>
                </a:solidFill>
              </a:rPr>
              <a:t>• 71 Miembros en 14 Días: </a:t>
            </a:r>
            <a:r>
              <a:rPr sz="1050">
                <a:solidFill>
                  <a:srgbClr val="FFFFFF"/>
                </a:solidFill>
              </a:rPr>
              <a:t>En solo 2 semanas de prueba piloto se registraron 71 miembros activos con su credencial Fan ID, de una comunidad de más de 350 en Querétaro.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5722"/>
                </a:solidFill>
              </a:rPr>
              <a:t>• Botón Exclusivo en su Tarjeta Digital: </a:t>
            </a:r>
            <a:r>
              <a:rPr sz="1050">
                <a:solidFill>
                  <a:srgbClr val="FFFFFF"/>
                </a:solidFill>
              </a:rPr>
              <a:t>Cuentan con un botón especial dentro de su tarjeta digital que los lleva directo a los juegos de su equipo sin buscar enlaces.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0E676"/>
                </a:solidFill>
              </a:rPr>
              <a:t>• Asistencia y Consumo Fijo: </a:t>
            </a:r>
            <a:r>
              <a:rPr sz="1050">
                <a:solidFill>
                  <a:srgbClr val="FFFFFF"/>
                </a:solidFill>
              </a:rPr>
              <a:t>Un club de fans organizado llena el restaurante los domingos de partido con un consumo constante durante más de 3 horas.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0B0FF"/>
                </a:solidFill>
              </a:rPr>
              <a:t>• Modelo Replicable: </a:t>
            </a:r>
            <a:r>
              <a:rPr sz="1050">
                <a:solidFill>
                  <a:srgbClr val="FFFFFF"/>
                </a:solidFill>
              </a:rPr>
              <a:t>Listo para activarse con Cowboys, 49ers, Patriots o clubes de fútbol como Chivas, América o Gallos Blancos.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90780" y="1408176"/>
            <a:ext cx="4506438" cy="4956048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n_id_stee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644" y="1463040"/>
            <a:ext cx="439671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5644" y="6382512"/>
            <a:ext cx="43967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Credencial Digital Fan ID con Acceso Directo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EXPERIENCIA DEL CLIENTE • ONBOARDING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 de Acceso: Del Código QR en Mesa a la Pantalla de Inicio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📲 Flujo de Entrada sin Fricción en 15 Segundos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PASO 1: Escaneo en Mesa: </a:t>
            </a:r>
            <a:r>
              <a:rPr sz="1000">
                <a:solidFill>
                  <a:srgbClr val="FFFFFF"/>
                </a:solidFill>
              </a:rPr>
              <a:t>El cliente escanea el QR en el acrílico de su mesa. Cero descargas en App Store o Play Store; abre de inmediato en Safari o Chrome.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PASO 2: Registro en 10s: </a:t>
            </a:r>
            <a:r>
              <a:rPr sz="1000">
                <a:solidFill>
                  <a:srgbClr val="FFFFFF"/>
                </a:solidFill>
              </a:rPr>
              <a:t>Inicio de sesión con 1 toque con Google o escribiendo su nombre y teléfono para guardar sus puntos y premios en la nube.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PASO 3: Mesa &amp; Mesero: </a:t>
            </a:r>
            <a:r>
              <a:rPr sz="1000">
                <a:solidFill>
                  <a:srgbClr val="FFFFFF"/>
                </a:solidFill>
              </a:rPr>
              <a:t>Selecciona el número de mesa y el nombre del mesero que lo atiende. Esto garantiza que las cortesías lleguen a la mesa correcta y premia el servicio del mesero.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PASO 4: Instalación PWA: </a:t>
            </a:r>
            <a:r>
              <a:rPr sz="1000">
                <a:solidFill>
                  <a:srgbClr val="FFFFFF"/>
                </a:solidFill>
              </a:rPr>
              <a:t>Con un toque en «Agregar a Pantalla de Inicio», la app se instala como Web App con ícono propio para jugar en visitas futuras.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555429"/>
            <a:ext cx="4681728" cy="2661541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iter_qr_ser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10293"/>
            <a:ext cx="4572000" cy="2551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23525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Atención en Mesa: Escaneo Inmediato con Código QR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CONTROL OPERATIVO • PANEL DEL GERENTE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 del Gerente: El Centro de Control Maestro (admin.html)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⚙️ Panel de Administración en admin.html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1. Pestañas de Gestión Rápida: </a:t>
            </a:r>
            <a:r>
              <a:rPr sz="1000">
                <a:solidFill>
                  <a:srgbClr val="FFFFFF"/>
                </a:solidFill>
              </a:rPr>
              <a:t>Menú superior: 🏈 Grids, 📋 Quinielas, 🏆 Survivor, ⚽ First Striker, 🎯 Bingo, 🧠 Trivia en Vivo y 🎨 Material Promocional.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2. Switch Maestro «⚡ Auto-Aprobar»: </a:t>
            </a:r>
            <a:r>
              <a:rPr sz="1000">
                <a:solidFill>
                  <a:srgbClr val="FFFFFF"/>
                </a:solidFill>
              </a:rPr>
              <a:t>En ON, los comensales entran a jugar de forma directa al escanear. En OFF, los clientes quedan en lista de espera hasta que el mesero valide consumo mínimo en mesa.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3. Selector Multitienda: </a:t>
            </a:r>
            <a:r>
              <a:rPr sz="1000">
                <a:solidFill>
                  <a:srgbClr val="FFFFFF"/>
                </a:solidFill>
              </a:rPr>
              <a:t>Permite a gerentes gestionar Juriquilla, Álamos o Paseo Qro de forma independiente.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4. Scorebug Oficial ESPN: </a:t>
            </a:r>
            <a:r>
              <a:rPr sz="1000">
                <a:solidFill>
                  <a:srgbClr val="FFFFFF"/>
                </a:solidFill>
              </a:rPr>
              <a:t>Muestra en tiempo real cuarto, reloj y situación oficial del partido directamente de ESPN.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545461"/>
            <a:ext cx="4681728" cy="2681478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_panel_gr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00325"/>
            <a:ext cx="4572000" cy="2571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24522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Panel Administrativo Maestro en Vivo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MANUAL OPERATIVO • JUEGO 1: GRIDS (ADMIN)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Football Grids (100 Casillas) — Panel del Gerente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🏈 Creación y Sorteo en 4 Pasos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PASO 1: Búsqueda con ESPN (30s): </a:t>
            </a:r>
            <a:r>
              <a:rPr sz="1000">
                <a:solidFill>
                  <a:srgbClr val="FFFFFF"/>
                </a:solidFill>
              </a:rPr>
              <a:t>Seleccionar sucursal y liga NFL. Pulsar «🔍 Buscar Partidos». Tocar el juego y presionar «Crear Grid de Juego».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PASO 2: Apertura y Apartado: </a:t>
            </a:r>
            <a:r>
              <a:rPr sz="1000">
                <a:solidFill>
                  <a:srgbClr val="9CADC4"/>
                </a:solidFill>
              </a:rPr>
              <a:t>Los clientes apartan sus casillas favoritas en sus teléfonos antes del kickoff.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PASO 3: Bloqueo y Sorteo 0-9: </a:t>
            </a:r>
            <a:r>
              <a:rPr sz="1000">
                <a:solidFill>
                  <a:srgbClr val="FFFFFF"/>
                </a:solidFill>
              </a:rPr>
              <a:t>Al iniciar el partido, pulsar «🔒 Bloquear». Luego pulsar «🎲 Generar Números» (baraja dígitos 0 al 9) y «👁️ Mostrar Números».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PASO 4: Liquidación por Cuarto: </a:t>
            </a:r>
            <a:r>
              <a:rPr sz="1000">
                <a:solidFill>
                  <a:srgbClr val="FFFFFF"/>
                </a:solidFill>
              </a:rPr>
              <a:t>Al final de 1Q, Halftime, 3Q y Final, la app toma el último dígito del marcador oficial de ESPN y resalta en dorado a la mesa ganadora.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108" y="1408176"/>
            <a:ext cx="2835783" cy="4956048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rjeta_2_vive_la_nf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72" y="1463040"/>
            <a:ext cx="2726055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80972" y="6382512"/>
            <a:ext cx="2726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Football Grids: 100 Casillas y 4 Momentos de Premiación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MANUAL OPERATIVO • JUEGO 1: GRIDS (JUGADOR)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Football Grids — Experiencia del Cliente en Mesa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📱 Cómo Aparta y Gana el Comensal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1. Cuadrícula Táctil 10x10: </a:t>
            </a:r>
            <a:r>
              <a:rPr sz="1000">
                <a:solidFill>
                  <a:srgbClr val="FFFFFF"/>
                </a:solidFill>
              </a:rPr>
              <a:t>El cliente abre el tablero interactivo. Toca las casillas que desea apartar y se iluminan con su nombre.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2. Coordenadas de Partido: </a:t>
            </a:r>
            <a:r>
              <a:rPr sz="1000">
                <a:solidFill>
                  <a:srgbClr val="9CADC4"/>
                </a:solidFill>
              </a:rPr>
              <a:t>Eje horizontal = Visitante; Eje vertical = Local. Los dígitos de cada cuarto definen la casilla triunfadora.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3. Cuatro Ganadores en un Solo Juego: </a:t>
            </a:r>
            <a:r>
              <a:rPr sz="1000">
                <a:solidFill>
                  <a:srgbClr val="FFFFFF"/>
                </a:solidFill>
              </a:rPr>
              <a:t>Premios en 1Q (Botana), Medio Tiempo (Ronda de cervezas), 3Q (Postre o alitas) y Final (Premio mayor).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4. Notificación en Pantalla: </a:t>
            </a:r>
            <a:r>
              <a:rPr sz="1000">
                <a:solidFill>
                  <a:srgbClr val="FFFFFF"/>
                </a:solidFill>
              </a:rPr>
              <a:t>El cliente ganador recibe aviso dorado en su celular y se lo muestra al mesero para recibir su cortesía.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1951736"/>
            <a:ext cx="4681728" cy="3868928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dge_gr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06600"/>
            <a:ext cx="4572000" cy="375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838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Insignia Oficial de Football Grids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MANUAL OPERATIVO • JUEGO 2: QUINIELAS (ADMIN)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Quinielas &amp; Pick'em — Creación en 45s (admin.html)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📋 Carga Masiva con Conexión a ESPN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1. Asignar Nombre y Modo: </a:t>
            </a:r>
            <a:r>
              <a:rPr sz="1000">
                <a:solidFill>
                  <a:srgbClr val="FFFFFF"/>
                </a:solidFill>
              </a:rPr>
              <a:t>Escribir nombre (ej. «Semana 1 NFL Juriquilla»). Elegir modo Marcador Exacto o Quiniela Híbrida (Pick'em solo ganador).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2. Búsqueda Masiva en ESPN: </a:t>
            </a:r>
            <a:r>
              <a:rPr sz="1000">
                <a:solidFill>
                  <a:srgbClr val="FFFFFF"/>
                </a:solidFill>
              </a:rPr>
              <a:t>Seleccionar deporte y rango de fechas (7 a 30 días). Tocar «🔍 Buscar Partidos». Se importan escudos, horarios y líneas.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3. Clic en «Crear Quiniela»: </a:t>
            </a:r>
            <a:r>
              <a:rPr sz="1000">
                <a:solidFill>
                  <a:srgbClr val="9CADC4"/>
                </a:solidFill>
              </a:rPr>
              <a:t>La jornada se activa al instante para todos los comensales.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4. Sincronización Automática: </a:t>
            </a:r>
            <a:r>
              <a:rPr sz="1000">
                <a:solidFill>
                  <a:srgbClr val="FFFFFF"/>
                </a:solidFill>
              </a:rPr>
              <a:t>Botón «🔒 Bloquear» antes del primer juego y «🔄 Sincronizar ESPN» para jalar marcadores finales y recalcular la tabla.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011912"/>
            <a:ext cx="4681728" cy="3748575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quiniela_pi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66776"/>
            <a:ext cx="4572000" cy="36388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77877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Selección Masiva de Partidos con ESPN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MANUAL OPERATIVO • JUEGO 2: QUINIELAS (JUGADOR)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Quinielas &amp; Pick'em — Experiencia del Cliente y Puntos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🎯 Sistema Visual de Puntos por Colores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🟩 +3 Puntos (Verde Esmeralda): </a:t>
            </a:r>
            <a:r>
              <a:rPr sz="1000">
                <a:solidFill>
                  <a:srgbClr val="FFFFFF"/>
                </a:solidFill>
              </a:rPr>
              <a:t>Marcador Exacto. Si el cliente acierta el resultado exacto, su tarjeta brilla en verde esmeralda sumando 3 puntos.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🟨 +1 Punto (Dorado): </a:t>
            </a:r>
            <a:r>
              <a:rPr sz="1000">
                <a:solidFill>
                  <a:srgbClr val="FFFFFF"/>
                </a:solidFill>
              </a:rPr>
              <a:t>Ganador Acertado. Si acertó quién ganó aunque falló el marcador numérico, recibe 1 punto con medalla dorada.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📊 Leaderboard en Vivo: </a:t>
            </a:r>
            <a:r>
              <a:rPr sz="1000">
                <a:solidFill>
                  <a:srgbClr val="9CADC4"/>
                </a:solidFill>
              </a:rPr>
              <a:t>Durante las transmisiones del fin de semana, el comensal ve su posición escalar jugada tras jugada.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🏆 Podio Automático: </a:t>
            </a:r>
            <a:r>
              <a:rPr sz="1000">
                <a:solidFill>
                  <a:srgbClr val="FFFFFF"/>
                </a:solidFill>
              </a:rPr>
              <a:t>Al concluir el último partido, la app corona a los 3 mejores lugares para entrega de premios de gerencia.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011912"/>
            <a:ext cx="4681728" cy="3748575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quiniela_pi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66776"/>
            <a:ext cx="4572000" cy="36388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77877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Tarjetas de Juego con Puntos Verde (+3) y Dorado (+1)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MANUAL OPERATIVO • JUEGO 3: SURVIVOR (ADMIN)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Survivor Multi-Semana — Panel del Gerente (admin.html)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🏆 Arquitectura Multi-Torneo Survivor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1. Crear Torneo: </a:t>
            </a:r>
            <a:r>
              <a:rPr sz="1000">
                <a:solidFill>
                  <a:srgbClr val="FFFFFF"/>
                </a:solidFill>
              </a:rPr>
              <a:t>Clic en «➕ Crear Nuevo Survivor», asignar nombre (ej. «Survivor NFL 2026 Juriquilla») y definir sucursal.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2. Control Semanal: </a:t>
            </a:r>
            <a:r>
              <a:rPr sz="1000">
                <a:solidFill>
                  <a:srgbClr val="FFFFFF"/>
                </a:solidFill>
              </a:rPr>
              <a:t>Selector de semana activa (Semana 1, 2, 3...) con casilla «🔒 Bloquear Pronósticos» antes del partido de jueves o domingo.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3. Auto-Evaluación ESPN: </a:t>
            </a:r>
            <a:r>
              <a:rPr sz="1000">
                <a:solidFill>
                  <a:srgbClr val="FFFFFF"/>
                </a:solidFill>
              </a:rPr>
              <a:t>Botón «⚡ Evaluar Survivor con ESPN» compara elecciones contra resultados oficiales y elimina a los comensales con equipos derrotados.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4. Panel de Sobrevivientes: </a:t>
            </a:r>
            <a:r>
              <a:rPr sz="1000">
                <a:solidFill>
                  <a:srgbClr val="FFFFFF"/>
                </a:solidFill>
              </a:rPr>
              <a:t>Muestra activos en verde y eliminados en rojo. Botón directo para compartir estatus en grupos de WhatsApp.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43982" y="1408176"/>
            <a:ext cx="4000035" cy="4956048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vivor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846" y="1463040"/>
            <a:ext cx="3890307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98846" y="6382512"/>
            <a:ext cx="38903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Panel de Sobrevivientes Activos vs Eliminados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MANUAL OPERATIVO • JUEGO 3: SURVIVOR (JUGADOR)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Survivor — Experiencia del Cliente y Tensión Semanal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⚡ La Regla de Oro Semanal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1. Una Elección por Semana: </a:t>
            </a:r>
            <a:r>
              <a:rPr sz="1000">
                <a:solidFill>
                  <a:srgbClr val="FFFFFF"/>
                </a:solidFill>
              </a:rPr>
              <a:t>El cliente elige un equipo que cree que ganará su partido en la jornada activa.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2. Vida o Muerte: </a:t>
            </a:r>
            <a:r>
              <a:rPr sz="1000">
                <a:solidFill>
                  <a:srgbClr val="FFFFFF"/>
                </a:solidFill>
              </a:rPr>
              <a:t>Si tu equipo gana, sigues vivo; si empata o pierde, quedas ELIMINADO de la competencia.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3. Prohibido Repetir Equipos: </a:t>
            </a:r>
            <a:r>
              <a:rPr sz="1000">
                <a:solidFill>
                  <a:srgbClr val="FFFFFF"/>
                </a:solidFill>
              </a:rPr>
              <a:t>Una vez que elegiste a un equipo (ej. Chiefs en semana 1), la app lo bloquea; jamás podrás volver a seleccionarlo.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4. Retención Brutal: </a:t>
            </a:r>
            <a:r>
              <a:rPr sz="1000">
                <a:solidFill>
                  <a:srgbClr val="FFFFFF"/>
                </a:solidFill>
              </a:rPr>
              <a:t>Los sobrevivientes regresan religiosamente al restaurante cada semana para no perderse a su equipo, asegurando consumo sostenido.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166409"/>
            <a:ext cx="4681728" cy="343958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dge_surviv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21273"/>
            <a:ext cx="4572000" cy="33298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62427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Survivor: Competencia de Eliminación Directa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MANUAL OPERATIVO • JUEGO 4: FIRST STRIKER (ADMIN)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First Striker Wins — Planilla de 15 Minutos (admin.html)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⚽ Gestión del Minuto del Primer Gol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1. Creación en Fútbol (Liga MX / Champions): </a:t>
            </a:r>
            <a:r>
              <a:rPr sz="1000">
                <a:solidFill>
                  <a:srgbClr val="FFFFFF"/>
                </a:solidFill>
              </a:rPr>
              <a:t>Buscar partido en ESPN y pulsar «Crear Juego Minuto del Gol». Genera automáticamente los bloques: 0-15', 16-30', 31-45', 46-60', 61-75', 76-90' y Sin Gol.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2. Detección en Vivo de ESPN: </a:t>
            </a:r>
            <a:r>
              <a:rPr sz="1000">
                <a:solidFill>
                  <a:srgbClr val="FFFFFF"/>
                </a:solidFill>
              </a:rPr>
              <a:t>Botón «⚡ Detectar 1er Gol en Vivo (ESPN Oficial)» lee el minuto y segundo oficial de la anotación de forma automática.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3. Regla «El Más Cercano Sin Pasarse»: </a:t>
            </a:r>
            <a:r>
              <a:rPr sz="1000">
                <a:solidFill>
                  <a:srgbClr val="FFFFFF"/>
                </a:solidFill>
              </a:rPr>
              <a:t>Si el gol cae al minuto 18, gana el bloque 16-30'. Si nadie lo tenía, gana el bloque anterior ocupado más cercano. Módulos integrados para Tiempos Extras y Tanda de Penales.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625828"/>
            <a:ext cx="4681728" cy="2520743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rst_strik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80692"/>
            <a:ext cx="4572000" cy="24110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1648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Planilla Oficial de Bloques de Tiempo First Striker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MANUAL OPERATIVO • JUEGO 4: FIRST STRIKER (JUGADOR)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First Striker Wins — Experiencia del Cliente (Premio Rápido)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⏱️ Adrenalina Desde el Segundo 1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1. Cero Espera Aburrida: </a:t>
            </a:r>
            <a:r>
              <a:rPr sz="1000">
                <a:solidFill>
                  <a:srgbClr val="FFFFFF"/>
                </a:solidFill>
              </a:rPr>
              <a:t>A diferencia de las quinielas donde hay que esperar 90 minutos, en First Striker la emoción arranca con el silbatazo inicial.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2. Selección en Pantalla: </a:t>
            </a:r>
            <a:r>
              <a:rPr sz="1000">
                <a:solidFill>
                  <a:srgbClr val="9CADC4"/>
                </a:solidFill>
              </a:rPr>
              <a:t>El cliente toca el bloque de 15 minutos en el que cree que se abrirá el marcador.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3. Premio Inmediato en Mesa: </a:t>
            </a:r>
            <a:r>
              <a:rPr sz="1000">
                <a:solidFill>
                  <a:srgbClr val="FFFFFF"/>
                </a:solidFill>
              </a:rPr>
              <a:t>Si cae gol en el minuto 8, la mesa que tenía el bloque 0-15' festeja de inmediato. El mesero les entrega su premio (ej. ronda de shots o botana) mientras el partido apenas va comenzando.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4. Consumo en Cascada: </a:t>
            </a:r>
            <a:r>
              <a:rPr sz="1000">
                <a:solidFill>
                  <a:srgbClr val="FFFFFF"/>
                </a:solidFill>
              </a:rPr>
              <a:t>Ganar temprano pone de excelente humor a la mesa, detonando pedidos de cerveza y comida adicionales durante el resto del encuentro.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108" y="1408176"/>
            <a:ext cx="2835783" cy="4956048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rjeta_3_instinto_gole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72" y="1463040"/>
            <a:ext cx="2726055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80972" y="6382512"/>
            <a:ext cx="2726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First Striker Wins: El Gol del Partido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MANUAL OPERATIVO • JUEGO 5: TRIVIA EN TV (ADMIN)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Trivia Deportiva en TV con IA — Modo Bar Host (admin.html)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🧠 Creación en 10s con Gemini IA y Control de Pantallas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1. Generación con IA en 10 Segundos: </a:t>
            </a:r>
            <a:r>
              <a:rPr sz="1000">
                <a:solidFill>
                  <a:srgbClr val="FFFFFF"/>
                </a:solidFill>
              </a:rPr>
              <a:t>Clic en «✨ Crear Trivia con IA». El gerente escribe el tema (ej. «Super Bowl e Historia NFL» o «Clásico Chivas vs América»). Gemini IA genera 5 a 10 preguntas con respuestas verificadas.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2. Proyección en Pantallas de TV: </a:t>
            </a:r>
            <a:r>
              <a:rPr sz="1000">
                <a:solidFill>
                  <a:srgbClr val="FFFFFF"/>
                </a:solidFill>
              </a:rPr>
              <a:t>Clic en «🖥️ Abrir Pantalla de TV». Se abre la interfaz de televisión con un código PIN visible y un código QR gigante para que todo el restaurante escanee desde sus mesas.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3. Control Remoto del Gerente: </a:t>
            </a:r>
            <a:r>
              <a:rPr sz="1000">
                <a:solidFill>
                  <a:srgbClr val="FFFFFF"/>
                </a:solidFill>
              </a:rPr>
              <a:t>Botones de host: «▶️ Empezar Trivia Automática (10s)», «⏱️ Revelar Respuesta», «📊 Ver Posiciones» y «⏩ Siguiente Pregunta».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4. Podio Final en TV: </a:t>
            </a:r>
            <a:r>
              <a:rPr sz="1000">
                <a:solidFill>
                  <a:srgbClr val="FFFFFF"/>
                </a:solidFill>
              </a:rPr>
              <a:t>Al terminar, pulsa «🏆 Revelar Podio Final». Las pantallas del bar se llenan de fuegos artificiales y proyectan a los 3 ganadores ante todo el restaurante.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033642"/>
            <a:ext cx="4681728" cy="3705114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dge_triv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88506"/>
            <a:ext cx="4572000" cy="35953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75704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Trivia Deportiva en Vivo en Pantallas del Restaurante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MANUAL OPERATIVO • JUEGO 5: TRIVIA EN TV (JUGADOR)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Trivia en TV — Experiencia del Cliente en Medio Tiempo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🎉 Dinamizar el Medio Tiempo y Eliminar Tiempos Muertos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1. Conexión Instantánea con PIN: </a:t>
            </a:r>
            <a:r>
              <a:rPr sz="1000">
                <a:solidFill>
                  <a:srgbClr val="FFFFFF"/>
                </a:solidFill>
              </a:rPr>
              <a:t>El comensal escanea el QR de la tele o escribe el PIN en su celular para unirse a la sala en segundos.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2. Temporizador de 15 Segundos: </a:t>
            </a:r>
            <a:r>
              <a:rPr sz="1000">
                <a:solidFill>
                  <a:srgbClr val="FFFFFF"/>
                </a:solidFill>
              </a:rPr>
              <a:t>Cada pregunta aparece con cuenta regresiva y 4 botones de colores en los celulares.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3. Velocidad y Precisión: </a:t>
            </a:r>
            <a:r>
              <a:rPr sz="1000">
                <a:solidFill>
                  <a:srgbClr val="FFFFFF"/>
                </a:solidFill>
              </a:rPr>
              <a:t>Quien responde bien y más rápido recibe puntos de bonificación por velocidad.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4. Retención del Comedor: </a:t>
            </a:r>
            <a:r>
              <a:rPr sz="1000">
                <a:solidFill>
                  <a:srgbClr val="FFFFFF"/>
                </a:solidFill>
              </a:rPr>
              <a:t>El medio tiempo suele provocar distracciones; la trivia mantiene al comensal pegado a la pantalla, pidiendo otra ronda de cervezas y botanas.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625828"/>
            <a:ext cx="4681728" cy="2520743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rst_strik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80692"/>
            <a:ext cx="4572000" cy="24110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1648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Podio de Ganadores y Pantalla de TV en Vivo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HERRAMIENTAS OPERATIVAS • BINGO &amp; MARKETING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Manual: GameDay Bingo y Generador de Material Promocional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🎯 Bingo 5x5 y Generador de Redes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• GameDay Bingo (Cartón 5x5): </a:t>
            </a:r>
            <a:r>
              <a:rPr sz="1000">
                <a:solidFill>
                  <a:srgbClr val="FFFFFF"/>
                </a:solidFill>
              </a:rPr>
              <a:t>Cartones con sucesos reales: Touchdown largo, Gol de tiro libre, Tarjeta roja, Revisión de VAR, Gol de campo fallado.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• VAR Automático con ESPN: </a:t>
            </a:r>
            <a:r>
              <a:rPr sz="1000">
                <a:solidFill>
                  <a:srgbClr val="FFFFFF"/>
                </a:solidFill>
              </a:rPr>
              <a:t>La app valida eventos oficiales y el primer cliente en completar su cartón canta ¡BINGO! en su mesa para reclamar su premio.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• Generador de Material: </a:t>
            </a:r>
            <a:r>
              <a:rPr sz="1000">
                <a:solidFill>
                  <a:srgbClr val="FFFFFF"/>
                </a:solidFill>
              </a:rPr>
              <a:t>Módulo interno para que la gerencia genere artes visuales en alta resolución listos para acrílicos de mesa o historias de Instagram y WhatsApp.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• Invitaciones Inteligentes: </a:t>
            </a:r>
            <a:r>
              <a:rPr sz="1000">
                <a:solidFill>
                  <a:srgbClr val="FFFFFF"/>
                </a:solidFill>
              </a:rPr>
              <a:t>Botones con enlaces directos y mensajes pre-redactados para invitar a los grupos de fanáticos por WhatsApp.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108" y="1408176"/>
            <a:ext cx="2835783" cy="4956048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rjeta_1_que_es_drinks_and_w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72" y="1463040"/>
            <a:ext cx="2726055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80972" y="6382512"/>
            <a:ext cx="2726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Material Promocional y Dinámica de Bar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RENTABILIDAD &amp; COSTO • ESTRATEGIA DE PREMIOS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Ingeniería de Premios: Alto Valor Percibido con Bajo Costo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676"/>
                </a:solidFill>
              </a:defRPr>
            </a:pPr>
            <a:r>
              <a:t>💰 Estrategia Financiera de Cortesías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🍗 Bajo Food Cost Real (&lt;20%-25%): </a:t>
            </a:r>
            <a:r>
              <a:rPr sz="1000">
                <a:solidFill>
                  <a:srgbClr val="FFFFFF"/>
                </a:solidFill>
              </a:rPr>
              <a:t>Se premia con insumos de alto valor percibido: órdenes de alitas de cortesía, tarros de cerveza, shots de la casa o postres. El restaurante regala experiencias gastronómicas, no efectivo.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🍻 El Efecto Mesa Ganadora: </a:t>
            </a:r>
            <a:r>
              <a:rPr sz="1000">
                <a:solidFill>
                  <a:srgbClr val="FFFFFF"/>
                </a:solidFill>
              </a:rPr>
              <a:t>Nadie va solo a un sports bar a cobrar un premio de alitas o cerveza. El ganador invita a 2 a 4 amigos a su mesa. Mientras él disfruta su premio, sus acompañantes piden hamburguesas y bebidas pagadas ($800-$1,500 ticket).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🎟️ Retorno Entre Semana: </a:t>
            </a:r>
            <a:r>
              <a:rPr sz="1000">
                <a:solidFill>
                  <a:srgbClr val="FFFFFF"/>
                </a:solidFill>
              </a:rPr>
              <a:t>Los premios mayores se entregan como cupones válidos de Lunes a Jueves, convirtiendo el éxito del fin de semana en tráfico garantizado en días flojos.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555429"/>
            <a:ext cx="4681728" cy="2661541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ns_celebrating_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10293"/>
            <a:ext cx="4572000" cy="2551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23525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El Efecto Mesa Ganadora: Un Premio Detona Cuentas de 4 Personas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EQUIPO &amp; SERVICIO • EL FACTOR HUMANO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Gamificación de Meseros: Mejor Servicio, Más Venta y Mejores Propinas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🤝 Por Qué el Personal de Servicio Ama la App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1. Atribución Directa en Mesa: </a:t>
            </a:r>
            <a:r>
              <a:rPr sz="1000">
                <a:solidFill>
                  <a:srgbClr val="FFFFFF"/>
                </a:solidFill>
              </a:rPr>
              <a:t>Al registrarse, el comensal selecciona el nombre de su mesero. Esto permite identificar a los meseros que más invitan y promueven la experiencia.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2. Incentivo Natural en Propinas: </a:t>
            </a:r>
            <a:r>
              <a:rPr sz="1000">
                <a:solidFill>
                  <a:srgbClr val="FFFFFF"/>
                </a:solidFill>
              </a:rPr>
              <a:t>Un comensal entretenido permanece 40 minutos más en el restaurante y pide 1 o 2 rondas adicionales. Esto eleva directamente el cheque y la propina para el mesero.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3. Rompehielos de Atención: </a:t>
            </a:r>
            <a:r>
              <a:rPr sz="1000">
                <a:solidFill>
                  <a:srgbClr val="FFFFFF"/>
                </a:solidFill>
              </a:rPr>
              <a:t>El mesero no llega a presionar venta; llega ofreciendo un juego gratuito y entretenido de la casa, mejorando la simpatía y las reseñas del lugar.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555429"/>
            <a:ext cx="4681728" cy="2661541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iter_qr_ser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10293"/>
            <a:ext cx="4572000" cy="2551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23525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Meseros Motivados: Mayor Venta y Mayores Propinas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CALENDARIO OPERATIVO • ESTRATEGIA GRADUAL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Estrategia Gradual: Calendario Quirúrgico sin Saturar al Cliente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📅 No se Juegan Todos los Juegos Todos los Días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• Jueves (Thursday Night NFL): </a:t>
            </a:r>
            <a:r>
              <a:rPr sz="1000">
                <a:solidFill>
                  <a:srgbClr val="FFFFFF"/>
                </a:solidFill>
              </a:rPr>
              <a:t>Quiniela exprés o First Striker para animar la noche y abrir el fin de semana.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• Viernes (Liga MX): </a:t>
            </a:r>
            <a:r>
              <a:rPr sz="1000">
                <a:solidFill>
                  <a:srgbClr val="9CADC4"/>
                </a:solidFill>
              </a:rPr>
              <a:t>Dinámica de First Striker (El Minuto del Gol) en los juegos estelares nocturnos.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• Sábado y Domingo (Cartelera Estelar): </a:t>
            </a:r>
            <a:r>
              <a:rPr sz="1000">
                <a:solidFill>
                  <a:srgbClr val="FFFFFF"/>
                </a:solidFill>
              </a:rPr>
              <a:t>Grids de 100 Casillas en NFL estelar, Quinielas completas y Trivia en TV en los medios tiempos.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• Lunes (Monday Night Football): </a:t>
            </a:r>
            <a:r>
              <a:rPr sz="1000">
                <a:solidFill>
                  <a:srgbClr val="FFFFFF"/>
                </a:solidFill>
              </a:rPr>
              <a:t>Cierre de jornada, resolución de Quiniela semanal y coronación del Survivor.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• Regla de Oro Operativa: </a:t>
            </a:r>
            <a:r>
              <a:rPr sz="1000">
                <a:solidFill>
                  <a:srgbClr val="FFFFFF"/>
                </a:solidFill>
              </a:rPr>
              <a:t>Mantener la frescura del comensal ofreciendo el juego indicado para el público de cada día.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107342"/>
            <a:ext cx="4681728" cy="3557714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dge_quini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162206"/>
            <a:ext cx="4572000" cy="34479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68334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Calendario Quirúrgico de Gamificación Deportiva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IMPACTO EN NEGOCIO • MÉTRICAS Y ROI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Retorno de Inversión: Métricas Comprobadas en la Operación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743200" cy="228600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B612"/>
                </a:solidFill>
              </a:defRPr>
            </a:pPr>
            <a:r>
              <a:t>+22%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TICKET PROMEDIO</a:t>
            </a:r>
          </a:p>
          <a:p>
            <a:pPr algn="ctr">
              <a:defRPr sz="950">
                <a:solidFill>
                  <a:srgbClr val="9CADC4"/>
                </a:solidFill>
              </a:defRPr>
            </a:pPr>
            <a:r>
              <a:t>Mayor venta de cerveza y botanas por mesa durante las transmisiones.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463040"/>
            <a:ext cx="2743200" cy="228600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16002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676"/>
                </a:solidFill>
              </a:defRPr>
            </a:pPr>
            <a:r>
              <a:t>+35%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TIEMPO DE ESTANCIA</a:t>
            </a:r>
          </a:p>
          <a:p>
            <a:pPr algn="ctr">
              <a:defRPr sz="950">
                <a:solidFill>
                  <a:srgbClr val="9CADC4"/>
                </a:solidFill>
              </a:defRPr>
            </a:pPr>
            <a:r>
              <a:t>Comensales permanecen consumiendo hasta el silbatazo final.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2743200" cy="228600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5722"/>
                </a:solidFill>
              </a:defRPr>
            </a:pPr>
            <a:r>
              <a:t>3x a 4x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FRECUENCIA MENSUAL</a:t>
            </a:r>
          </a:p>
          <a:p>
            <a:pPr algn="ctr">
              <a:defRPr sz="950">
                <a:solidFill>
                  <a:srgbClr val="9CADC4"/>
                </a:solidFill>
              </a:defRPr>
            </a:pPr>
            <a:r>
              <a:t>Retención de fanáticos recurrentes que regresan cada semana.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3931920"/>
            <a:ext cx="2743200" cy="228600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06908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0FF"/>
                </a:solidFill>
              </a:defRPr>
            </a:pPr>
            <a:r>
              <a:t>$0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GASTO EN PAPEL</a:t>
            </a:r>
          </a:p>
          <a:p>
            <a:pPr algn="ctr">
              <a:defRPr sz="950">
                <a:solidFill>
                  <a:srgbClr val="9CADC4"/>
                </a:solidFill>
              </a:defRPr>
            </a:pPr>
            <a:r>
              <a:t>Cero impresiones, cero hojas mojadas y cero errores manuales.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03136" y="2509709"/>
            <a:ext cx="4681728" cy="2661541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ports_bar_atmosphe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564573"/>
            <a:ext cx="4572000" cy="255181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0" y="518953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Impacto Directo en Facturación y Rentabilidad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B612"/>
                </a:solidFill>
              </a:defRPr>
            </a:pPr>
            <a:r>
              <a:t>PLAN DE ACCIÓN • CONCLUSIÓN EN JURIQUILLA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Plan de Despliegue en Juriquilla y Conclusión Ejecutiva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846320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612"/>
                </a:solidFill>
              </a:defRPr>
            </a:pPr>
            <a:r>
              <a:t>🚀 Cuatro Pasos Sencillos para la Activación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B612"/>
                </a:solidFill>
              </a:rPr>
              <a:t>PASO 1: Material en Mesas: </a:t>
            </a:r>
            <a:r>
              <a:rPr sz="1000">
                <a:solidFill>
                  <a:srgbClr val="FFFFFF"/>
                </a:solidFill>
              </a:rPr>
              <a:t>Colocación de acrílicos con código QR en mesas estratégicas de Juriquilla.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5722"/>
                </a:solidFill>
              </a:rPr>
              <a:t>PASO 2: Charla de 15 Minutos: </a:t>
            </a:r>
            <a:r>
              <a:rPr sz="1000">
                <a:solidFill>
                  <a:srgbClr val="FFFFFF"/>
                </a:solidFill>
              </a:rPr>
              <a:t>Capacitación breve a capitanes y meseros sobre cómo invitar a comensales y validar cortesías.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E676"/>
                </a:solidFill>
              </a:rPr>
              <a:t>PASO 3: Estreno con Steelers Nation: </a:t>
            </a:r>
            <a:r>
              <a:rPr sz="1000">
                <a:solidFill>
                  <a:srgbClr val="FFFFFF"/>
                </a:solidFill>
              </a:rPr>
              <a:t>Activación estelar con el club de fans el próximo domingo de partido.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B0FF"/>
                </a:solidFill>
              </a:rPr>
              <a:t>PASO 4: Medir y Escalar: </a:t>
            </a:r>
            <a:r>
              <a:rPr sz="1000">
                <a:solidFill>
                  <a:srgbClr val="FFFFFF"/>
                </a:solidFill>
              </a:rPr>
              <a:t>Revisión de ticket promedio con gerencia general para expansión a Álamos y Paseo Qro.</a:t>
            </a:r>
          </a:p>
          <a:p>
            <a:pPr algn="ctr">
              <a:spcBef>
                <a:spcPts val="1200"/>
              </a:spcBef>
              <a:defRPr sz="1100" b="1">
                <a:solidFill>
                  <a:srgbClr val="FFD100"/>
                </a:solidFill>
              </a:defRPr>
            </a:pPr>
            <a:r>
              <a:t>«Drinks &amp; Wins no es un gasto; es una herramienta de ventas, lealtad y servicio creada desde la operación real del restaurante.»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136" y="2555429"/>
            <a:ext cx="4681728" cy="2661541"/>
          </a:xfrm>
          <a:prstGeom prst="roundRect">
            <a:avLst/>
          </a:prstGeom>
          <a:solidFill>
            <a:srgbClr val="101726"/>
          </a:solidFill>
          <a:ln w="19050">
            <a:solidFill>
              <a:srgbClr val="FFB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ns_celebrating_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10293"/>
            <a:ext cx="4572000" cy="2551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23525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D100"/>
                </a:solidFill>
              </a:defRPr>
            </a:pPr>
            <a:r>
              <a:t>Hagamos de Cada Partido una Fiesta en Juriquilla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