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FFB6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88720"/>
            <a:ext cx="850821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2468880"/>
            <a:ext cx="9601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FB612"/>
                </a:solidFill>
              </a:defRPr>
            </a:pPr>
            <a:r>
              <a:t>PROYECTO DE GAMIFICACIÓN EN MESA • MANUAL OPERATIVO &amp; BLUEPRINT EJECUTIVO</a:t>
            </a:r>
          </a:p>
          <a:p>
            <a:pPr>
              <a:spcAft>
                <a:spcPts val="800"/>
              </a:spcAft>
              <a:defRPr sz="4400" b="1">
                <a:solidFill>
                  <a:srgbClr val="FFFFFF"/>
                </a:solidFill>
              </a:defRPr>
            </a:pPr>
            <a:r>
              <a:t>DRINKS &amp; WINS</a:t>
            </a:r>
          </a:p>
          <a:p>
            <a:pPr>
              <a:spcAft>
                <a:spcPts val="1600"/>
              </a:spcAft>
              <a:defRPr sz="1800">
                <a:solidFill>
                  <a:srgbClr val="FFD100"/>
                </a:solidFill>
              </a:defRPr>
            </a:pPr>
            <a:r>
              <a:t>La Plataforma Deportiva que Convierte Comensales en Fanáticos Recurrentes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Presentado por Beto Muñoz • Para el Dueño de la Marca, Dirección General y Gerencia</a:t>
            </a:r>
          </a:p>
          <a:p>
            <a:pPr>
              <a:defRPr sz="1150" i="1">
                <a:solidFill>
                  <a:srgbClr val="94A3B8"/>
                </a:solidFill>
              </a:defRPr>
            </a:pPr>
            <a:r>
              <a:t>«Nacido del cariño al lugar de trabajo, a los clientes y a las propinas que sacan adelante a mi familia»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DEFINICIÓN &amp; PROPUESTA DE VALOR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¿Qué es Drinks &amp; Wins? Definición, Objetivo y Metas Clave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10728655" cy="169164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101498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FFB612"/>
                </a:solidFill>
              </a:defRPr>
            </a:pPr>
            <a:r>
              <a:t>📱 ¿QUÉ ES DRINKS &amp; WINS?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Es una plataforma web interactiva (PWA) de entretenimiento y gamificación deportiva en mesa para restaurantes y sports bars. Conecta las pantallas de TV con el smartphone de cada comensal a través de códigos QR en mesa (sin descargar aplicaciones de tiendas). Permite a las mesas competir en tiempo real en quinielas, cuadrículas (Grids), survivor, primer gol y trivias en vivo, todo automatizado al 80% mediante Inteligencia Artificial (Gemini) y resultados oficiales de ESPN.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383280"/>
            <a:ext cx="5212080" cy="30175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52044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F5722"/>
                </a:solidFill>
              </a:defRPr>
            </a:pPr>
            <a:r>
              <a:t>🎯 OBJETIVO ESTRATÉGICO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FF5722"/>
                </a:solidFill>
              </a:rPr>
              <a:t>1. Activar al Comensal: </a:t>
            </a:r>
            <a:r>
              <a:rPr sz="1050">
                <a:solidFill>
                  <a:srgbClr val="FFFFFF"/>
                </a:solidFill>
              </a:rPr>
              <a:t>Convertir al cliente pasivo que solo mira la pantalla en un participante activo y apasionado.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FF5722"/>
                </a:solidFill>
              </a:rPr>
              <a:t>2. Maximizar Consumo: </a:t>
            </a:r>
            <a:r>
              <a:rPr sz="1050">
                <a:solidFill>
                  <a:srgbClr val="FFFFFF"/>
                </a:solidFill>
              </a:rPr>
              <a:t>Incentivar rondas adicionales de cerveza y botanas mientras esperan el cierre de cuartos o medios tiempos.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FF5722"/>
                </a:solidFill>
              </a:rPr>
              <a:t>3. Fidelización 3x: </a:t>
            </a:r>
            <a:r>
              <a:rPr sz="1050">
                <a:solidFill>
                  <a:srgbClr val="FFFFFF"/>
                </a:solidFill>
              </a:rPr>
              <a:t>Hacer que el comensal elija nuestra sucursal semana tras semana sobre cualquier competidor.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383280"/>
            <a:ext cx="5212080" cy="30175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352044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0E676"/>
                </a:solidFill>
              </a:defRPr>
            </a:pPr>
            <a:r>
              <a:t>🏆 METAS CLAVE DEL PROYECTO (KPIs)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0E676"/>
                </a:solidFill>
              </a:rPr>
              <a:t>📈 +20% a +25% Ticket Promedio: </a:t>
            </a:r>
            <a:r>
              <a:rPr sz="1050">
                <a:solidFill>
                  <a:srgbClr val="FFFFFF"/>
                </a:solidFill>
              </a:rPr>
              <a:t>Mayor consumo de alimentos y bebidas por mesa durante transmisiones.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0E676"/>
                </a:solidFill>
              </a:rPr>
              <a:t>⏱️ +35% Tiempo de Estancia: </a:t>
            </a:r>
            <a:r>
              <a:rPr sz="1050">
                <a:solidFill>
                  <a:srgbClr val="FFFFFF"/>
                </a:solidFill>
              </a:rPr>
              <a:t>Los comensales permanecen consumiendo hasta el último cuarto o silbatazo final.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0E676"/>
                </a:solidFill>
              </a:rPr>
              <a:t>🔁 Retención de 3 a 4 Visitas/Mes: </a:t>
            </a:r>
            <a:r>
              <a:rPr sz="1050">
                <a:solidFill>
                  <a:srgbClr val="FFFFFF"/>
                </a:solidFill>
              </a:rPr>
              <a:t>Fanáticos que regresan por la revancha en la tabla de clasificación.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0E676"/>
                </a:solidFill>
              </a:rPr>
              <a:t>📄 $0 en Papelería &amp; Cero Errores: </a:t>
            </a:r>
            <a:r>
              <a:rPr sz="1050">
                <a:solidFill>
                  <a:srgbClr val="FFFFFF"/>
                </a:solidFill>
              </a:rPr>
              <a:t>Eliminación de hojas impresas y horas hombre de cálculo manual.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HISTORIA REAL • MOTIVACIÓN Y PROPÓSITO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El Corazón del Proyecto: La Historia de un Barman en Álamos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82296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FFB6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D100"/>
                </a:solidFill>
              </a:defRPr>
            </a:pPr>
            <a:r>
              <a:t>❤️ «Mi objetivo siempre fue intentar que el cliente estuviera contento: aún si su equipo pierde o si el partido está aburrido. Al ser humano le gusta competir por naturaleza.»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68880"/>
            <a:ext cx="3429000" cy="39319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FFB6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3063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B612"/>
                </a:solidFill>
              </a:defRPr>
            </a:pPr>
            <a:r>
              <a:t>🍺 El Origen en la Barra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Esto comenzó cuando yo era barman en Álamos. Empecé a inventar quinielas y dinámicas en hojas de papel entre las mesas. De repente, la gente no solo veía la tele: estaban conviviendo, gritando entre mesas y pidiendo más rondas de cerveza y alitas para seguir jugando.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2468880"/>
            <a:ext cx="3429000" cy="39319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FF5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62856" y="2651760"/>
            <a:ext cx="3063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5722"/>
                </a:solidFill>
              </a:defRPr>
            </a:pPr>
            <a:r>
              <a:t>💬 Clientes Agradecidos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Esas dinámicas crearon clientes tan fieles que hasta hoy me ven en la calle en Querétaro y me dicen:</a:t>
            </a:r>
            <a:br/>
            <a:br/>
            <a:r>
              <a:t>«¡Beto, qué onda! ¿Para cuándo otra quiniela o trivia?»</a:t>
            </a:r>
            <a:br/>
            <a:br/>
            <a:r>
              <a:t>Gracias a esos clientes y a sus propinas he sacado adelante a mi familia, y siempre estaré agradecido.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8432" y="2468880"/>
            <a:ext cx="3429000" cy="39319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2651760"/>
            <a:ext cx="3063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0E676"/>
                </a:solidFill>
              </a:defRPr>
            </a:pPr>
            <a:r>
              <a:t>💡 La Esencia del Proyecto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No soy programador, ingeniero de software ni diseñador gráfico. Esta plataforma se construyó con cariño al lugar en que trabajo y a la empresa. La meta es institucionalizar digitalmente lo que antes hacíamos a mano, para que el restaurante venda más y los clientes vivan una experiencia única.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EVOLUCIÓN OPERATIVA &amp; AUTOMATIZACIÓN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De Álamos a Juriquilla: Por Qué la App es 80% Autónoma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FF5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5722"/>
                </a:solidFill>
              </a:defRPr>
            </a:pPr>
            <a:r>
              <a:t>⚖️ El Reto Operativo en Juriquilla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B612"/>
                </a:solidFill>
              </a:rPr>
              <a:t>1. Mayor Escala Operativa: </a:t>
            </a:r>
            <a:r>
              <a:rPr sz="1100">
                <a:solidFill>
                  <a:srgbClr val="FFFFFF"/>
                </a:solidFill>
              </a:rPr>
              <a:t>En Álamos yo estaba en la barra. Ahora en Juriquilla mis deberes atienden a la operación completa del restaurante. Es imposible descuidar el servicio para llenar hojas o calcular puntos.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B612"/>
                </a:solidFill>
              </a:rPr>
              <a:t>2. Clientes Buscando las Dinámicas: </a:t>
            </a:r>
            <a:r>
              <a:rPr sz="1100">
                <a:solidFill>
                  <a:srgbClr val="FFFFFF"/>
                </a:solidFill>
              </a:rPr>
              <a:t>Muchos clientes habituales llegan a Juriquilla preguntando por los juegos que hacíamos, pero el ritmo de piso no permite hacerlo de forma artesanal.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B612"/>
                </a:solidFill>
              </a:rPr>
              <a:t>3. El Papel es Ineficiente: </a:t>
            </a:r>
            <a:r>
              <a:rPr sz="1100">
                <a:solidFill>
                  <a:srgbClr val="FFFFFF"/>
                </a:solidFill>
              </a:rPr>
              <a:t>Las hojas impresas se pierden, se manchan con cerveza y generan discusiones por errores de conteo al final del partido.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0E676"/>
                </a:solidFill>
              </a:defRPr>
            </a:pPr>
            <a:r>
              <a:t>🤖 La Solución: 80% Autónoma con IA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0E676"/>
                </a:solidFill>
              </a:rPr>
              <a:t>1. Creación en Segundos con IA: </a:t>
            </a:r>
            <a:r>
              <a:rPr sz="1100">
                <a:solidFill>
                  <a:srgbClr val="FFFFFF"/>
                </a:solidFill>
              </a:rPr>
              <a:t>Con Gemini de Google y conexión directa a ESPN, los gerentes crean quinielas completas o trivias en solo 30 a 60 segundos.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0E676"/>
                </a:solidFill>
              </a:rPr>
              <a:t>2. Marcadores y Puntos en Vivo: </a:t>
            </a:r>
            <a:r>
              <a:rPr sz="1100">
                <a:solidFill>
                  <a:srgbClr val="FFFFFF"/>
                </a:solidFill>
              </a:rPr>
              <a:t>La app consulta ESPN automáticamente, actualiza los marcadores en tiempo real y asigna puntos (+3 exacto / +1 ganador) sin que nadie mueva un dedo.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0E676"/>
                </a:solidFill>
              </a:rPr>
              <a:t>3. Cero Carga al Personal: </a:t>
            </a:r>
            <a:r>
              <a:rPr sz="1100">
                <a:solidFill>
                  <a:srgbClr val="FFFFFF"/>
                </a:solidFill>
              </a:rPr>
              <a:t>El gerente activa el juego antes del partido y la app corre sola. El equipo se concentra al 100% en atender mesas y despachar comandas.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VALIDACIÓN DE MERCADO • FAN CLUBS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Tracción Real: 71 Miembros en 2 Semanas de 350+ en QRO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840480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an_id_steel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3474720" cy="383004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846320" y="1463040"/>
            <a:ext cx="6583680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0" y="1645920"/>
            <a:ext cx="6035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B612"/>
                </a:solidFill>
              </a:defRPr>
            </a:pPr>
            <a:r>
              <a:t>🏈 Caso de Éxito Inmediato: Steelers Nation Querétaro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B612"/>
                </a:solidFill>
              </a:rPr>
              <a:t>• 71 Miembros en 14 Días: </a:t>
            </a:r>
            <a:r>
              <a:rPr sz="1100">
                <a:solidFill>
                  <a:srgbClr val="FFFFFF"/>
                </a:solidFill>
              </a:rPr>
              <a:t>Se registraron 71 fanáticos activos con su tarjeta digital Fan ID en tan solo dos semanas, de una comunidad de más de 350 miembros en la ciudad de Querétaro.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B612"/>
                </a:solidFill>
              </a:rPr>
              <a:t>• Acceso Directo Personalizado: </a:t>
            </a:r>
            <a:r>
              <a:rPr sz="1100">
                <a:solidFill>
                  <a:srgbClr val="FFFFFF"/>
                </a:solidFill>
              </a:rPr>
              <a:t>Los miembros cuentan con un botón exclusivo dentro de su credencial digital que los lleva directo a los juegos de su equipo sin necesidad de teclear links ni buscar partidos.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B612"/>
                </a:solidFill>
              </a:rPr>
              <a:t>• Fieles al Restaurante: </a:t>
            </a:r>
            <a:r>
              <a:rPr sz="1100">
                <a:solidFill>
                  <a:srgbClr val="FFFFFF"/>
                </a:solidFill>
              </a:rPr>
              <a:t>Un fan club organizado asegura lleno garantizado cada domingo de partido y un consumo constante de comida y bebidas durante más de 3 horas por visita.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B612"/>
                </a:solidFill>
              </a:rPr>
              <a:t>• Modelo 100% Escalable: </a:t>
            </a:r>
            <a:r>
              <a:rPr sz="1100">
                <a:solidFill>
                  <a:srgbClr val="FFFFFF"/>
                </a:solidFill>
              </a:rPr>
              <a:t>Esta misma tecnología está lista para implementarse con fanáticos de Dallas Cowboys, San Francisco 49ers, o clubes de fútbol como Chivas, América y Gallos Blancos.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EXPERIENCIA DEL CLIENTE • ONBOARDING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Manual de Acceso: Del Código QR en Mesa a la Pantalla de Inicio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2542032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FFB6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217627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FB612"/>
                </a:solidFill>
              </a:defRPr>
            </a:pPr>
            <a:r>
              <a:t>PASO 1</a:t>
            </a:r>
          </a:p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</a:defRPr>
            </a:pPr>
            <a:r>
              <a:t>Escaneo en Mesa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El comensal escanea el código QR colocado en el acrílico de su mesa. No requiere descargar nada de App Store ni Google Play; abre al instante en Safari o Chrome.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56432" y="1508760"/>
            <a:ext cx="2542032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FF5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39312" y="1691640"/>
            <a:ext cx="217627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F5722"/>
                </a:solidFill>
              </a:defRPr>
            </a:pPr>
            <a:r>
              <a:t>PASO 2</a:t>
            </a:r>
          </a:p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</a:defRPr>
            </a:pPr>
            <a:r>
              <a:t>Registro en 10s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Acceso con un solo toque mediante cuenta de Google o escribiendo su nombre y teléfono. Rápido, seguro y sin contraseñas difíciles.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508760"/>
            <a:ext cx="2542032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4224" y="1691640"/>
            <a:ext cx="217627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0E676"/>
                </a:solidFill>
              </a:defRPr>
            </a:pPr>
            <a:r>
              <a:t>PASO 3</a:t>
            </a:r>
          </a:p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</a:defRPr>
            </a:pPr>
            <a:r>
              <a:t>Mesa &amp; Mesero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El cliente selecciona el número de su mesa y el nombre del mesero que lo atiende. Esto garantiza que los premios lleguen a la mesa correcta y premia el servicio del mesero.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508760"/>
            <a:ext cx="2542032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89136" y="1691640"/>
            <a:ext cx="217627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3498DB"/>
                </a:solidFill>
              </a:defRPr>
            </a:pPr>
            <a:r>
              <a:t>PASO 4</a:t>
            </a:r>
          </a:p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</a:defRPr>
            </a:pPr>
            <a:r>
              <a:t>Instalación PWA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Con un solo toque en «Agregar a Pantalla de Inicio», la aplicación se instala como Web App con ícono propio para jugar en cada visita sin volver a iniciar sesión.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CONTROL OPERATIVO • PANEL DEL GERENTE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Manual del Gerente: El Centro de Control Maestro (admin.html)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4114800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dmin_panel_gri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3749039" cy="210883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120640" y="1463040"/>
            <a:ext cx="6309360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0" y="1645920"/>
            <a:ext cx="5760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B612"/>
                </a:solidFill>
              </a:defRPr>
            </a:pPr>
            <a:r>
              <a:t>⚙️ Panel Administrativo Diseñado para Restaurantes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FFB612"/>
                </a:solidFill>
              </a:rPr>
              <a:t>1. Pestañas de Gestión Rápida: </a:t>
            </a:r>
            <a:r>
              <a:rPr sz="1050">
                <a:solidFill>
                  <a:srgbClr val="FFFFFF"/>
                </a:solidFill>
              </a:rPr>
              <a:t>Acceso con un clic a: 🏈 Grids, 📋 Quinielas, 🏆 Survivor, ⚽ First Striker, 🎯 Bingo, 🧠 Trivia en Vivo y 🎨 Material Promocional.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0E676"/>
                </a:solidFill>
              </a:rPr>
              <a:t>2. Switch Maestro «⚡ Auto-Aprobar»: </a:t>
            </a:r>
            <a:r>
              <a:rPr sz="1050">
                <a:solidFill>
                  <a:srgbClr val="FFFFFF"/>
                </a:solidFill>
              </a:rPr>
              <a:t>Si está activo (ON), los comensales entran a jugar de forma inmediata. Si está en OFF, los comensales esperan validación de mesero (ideal si se requiere consumo mínimo).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3498DB"/>
                </a:solidFill>
              </a:rPr>
              <a:t>3. Selector de Sucursal Multitienda: </a:t>
            </a:r>
            <a:r>
              <a:rPr sz="1050">
                <a:solidFill>
                  <a:srgbClr val="FFFFFF"/>
                </a:solidFill>
              </a:rPr>
              <a:t>Permite a gerentes gestionar Juriquilla, Álamos o Paseo Querétaro de manera independiente con bases de datos aisladas.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FF5722"/>
                </a:solidFill>
              </a:rPr>
              <a:t>4. Scorebug de TV Integrado: </a:t>
            </a:r>
            <a:r>
              <a:rPr sz="1050">
                <a:solidFill>
                  <a:srgbClr val="FFFFFF"/>
                </a:solidFill>
              </a:rPr>
              <a:t>Banner visual en vivo que refleja el tiempo, cuarto y situación oficial del partido desde la API de ESPN.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MANUAL OPERATIVO • JUEGO 1: GRIDS (ADMIN)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Manual: Football Grids (100 Casillas) — Panel del Gerente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10149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B612"/>
                </a:solidFill>
              </a:defRPr>
            </a:pPr>
            <a:r>
              <a:t>🏈 Flujo de Creación y Operación del Gerente (Grids)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B612"/>
                </a:solidFill>
              </a:rPr>
              <a:t>PASO 1: Búsqueda con ESPN (30 segundos): </a:t>
            </a:r>
            <a:r>
              <a:rPr sz="1100">
                <a:solidFill>
                  <a:srgbClr val="FFFFFF"/>
                </a:solidFill>
              </a:rPr>
              <a:t>En la pestaña «🏈 Grids», selecciona la sucursal y liga (NFL). Pulsa «🔍 Buscar Partidos». Toca el juego en la lista y presiona «Crear Grid de Juego». La cuadrícula queda creada al instante.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FFFF"/>
                </a:solidFill>
              </a:rPr>
              <a:t>PASO 2: Apertura a Clientes: </a:t>
            </a:r>
            <a:r>
              <a:rPr sz="1100">
                <a:solidFill>
                  <a:srgbClr val="94A3B8"/>
                </a:solidFill>
              </a:rPr>
              <a:t>Los comensales de las mesas eligen sus casillas favoritas desde sus teléfonos mientras el partido no ha comenzado.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5722"/>
                </a:solidFill>
              </a:rPr>
              <a:t>PASO 3: Bloqueo Previo al Kickoff: </a:t>
            </a:r>
            <a:r>
              <a:rPr sz="1100">
                <a:solidFill>
                  <a:srgbClr val="FFFFFF"/>
                </a:solidFill>
              </a:rPr>
              <a:t>Al comenzar el partido, el gerente pulsa el botón «🔒 Bloquear». Nadie más puede apartar casillas.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0E676"/>
                </a:solidFill>
              </a:rPr>
              <a:t>PASO 4: Sorteo de Números 0 al 9: </a:t>
            </a:r>
            <a:r>
              <a:rPr sz="1100">
                <a:solidFill>
                  <a:srgbClr val="FFFFFF"/>
                </a:solidFill>
              </a:rPr>
              <a:t>El gerente presiona «🎲 Generar Números». El algoritmo baraja aleatoriamente los dígitos del 0 al 9 en las filas y columnas. Clic en «👁️ Mostrar Números» para revelar la cuadrícula a todos los celulares.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98DB"/>
                </a:solidFill>
              </a:rPr>
              <a:t>PASO 5: Liquidación Automática: </a:t>
            </a:r>
            <a:r>
              <a:rPr sz="1100">
                <a:solidFill>
                  <a:srgbClr val="FFFFFF"/>
                </a:solidFill>
              </a:rPr>
              <a:t>La app toma el último dígito del marcador oficial de ESPN al final de cada cuarto (1Q, Medio Tiempo, 3Q, Final), resalta la casilla ganadora en dorado e identifica al comensal triunfador.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MANUAL OPERATIVO • JUEGO 1: GRIDS (JUGADOR)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Manual: Football Grids — Experiencia del Cliente en Mesa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10149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B612"/>
                </a:solidFill>
              </a:defRPr>
            </a:pPr>
            <a:r>
              <a:t>📱 Cómo Interactúa y Gana el Comensal en Mesa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B612"/>
                </a:solidFill>
              </a:rPr>
              <a:t>1. Cuadrícula Táctil en Celular: </a:t>
            </a:r>
            <a:r>
              <a:rPr sz="1100">
                <a:solidFill>
                  <a:srgbClr val="FFFFFF"/>
                </a:solidFill>
              </a:rPr>
              <a:t>El cliente visualiza un tablero digital interactivo de 10x10 casillas. Toca las casillas que desea apartar y se marcan con su nombre o apodo.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FFFF"/>
                </a:solidFill>
              </a:rPr>
              <a:t>2. Lectura Sencilla de Coordenadas: </a:t>
            </a:r>
            <a:r>
              <a:rPr sz="1100">
                <a:solidFill>
                  <a:srgbClr val="94A3B8"/>
                </a:solidFill>
              </a:rPr>
              <a:t>Eje horizontal = Equipo Visitante; Eje vertical = Equipo Local. Cada casilla representa la combinación del último dígito del marcador (ej. Steelers 7 - Ravens 4).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0E676"/>
                </a:solidFill>
              </a:rPr>
              <a:t>3. Cuatro Ganadores en un Solo Partido: </a:t>
            </a:r>
            <a:r>
              <a:rPr sz="1100">
                <a:solidFill>
                  <a:srgbClr val="FFFFFF"/>
                </a:solidFill>
              </a:rPr>
              <a:t>A diferencia de esperar 3.5 horas a que termine el juego, aquí hay emoción continua con 4 momentos de premiación:
• Ganador 1er Cuarto (1Q)
• Ganador Medio Tiempo (Halftime)
• Ganador 3er Cuarto (3Q)
• Ganador Marcador Final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5722"/>
                </a:solidFill>
              </a:rPr>
              <a:t>4. Entrega de Premios en Mesa: </a:t>
            </a:r>
            <a:r>
              <a:rPr sz="1100">
                <a:solidFill>
                  <a:srgbClr val="FFFFFF"/>
                </a:solidFill>
              </a:rPr>
              <a:t>Al finalizar cada cuarto, el cliente ganador recibe una notificación dorada en su pantalla y se la muestra a su mesero para recibir su cortesía de inmediato.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MANUAL OPERATIVO • JUEGO 2: QUINIELAS (ADMIN)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Manual: Quinielas &amp; Pick'em — Creación en 45s (admin.html)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4114800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eenshot_quiniela_pi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3749039" cy="298385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120640" y="1463040"/>
            <a:ext cx="6309360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0" y="1645920"/>
            <a:ext cx="5760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B612"/>
                </a:solidFill>
              </a:defRPr>
            </a:pPr>
            <a:r>
              <a:t>📋 Creación y Automatización con ESPN API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FFB612"/>
                </a:solidFill>
              </a:rPr>
              <a:t>1. Asignar Nombre y Modo: </a:t>
            </a:r>
            <a:r>
              <a:rPr sz="1050">
                <a:solidFill>
                  <a:srgbClr val="FFFFFF"/>
                </a:solidFill>
              </a:rPr>
              <a:t>Escribir el nombre (ej. «Semana 1 NFL Juriquilla»). Opción de Quiniela Tradicional (marcador exacto) o Quiniela Híbrida (Modo Pick'em solo ganador).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0E676"/>
                </a:solidFill>
              </a:rPr>
              <a:t>2. Carga Masiva en 1 Clic: </a:t>
            </a:r>
            <a:r>
              <a:rPr sz="1050">
                <a:solidFill>
                  <a:srgbClr val="FFFFFF"/>
                </a:solidFill>
              </a:rPr>
              <a:t>Seleccionar deporte (NFL o Liga MX) y rango de fechas (7 a 30 días). Tocar «🔍 Buscar Partidos». El gerente toca los juegos deseados y se importan logos, horarios y líneas oficiales.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FF5722"/>
                </a:solidFill>
              </a:rPr>
              <a:t>3. Bloqueo de Pronósticos: </a:t>
            </a:r>
            <a:r>
              <a:rPr sz="1050">
                <a:solidFill>
                  <a:srgbClr val="FFFFFF"/>
                </a:solidFill>
              </a:rPr>
              <a:t>Botón «🔒 Bloquear Pronósticos» se activa antes de arrancar el primer partido para garantizar legalidad y transparencia.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3498DB"/>
                </a:solidFill>
              </a:rPr>
              <a:t>4. Sincronización en Vivo: </a:t>
            </a:r>
            <a:r>
              <a:rPr sz="1050">
                <a:solidFill>
                  <a:srgbClr val="FFFFFF"/>
                </a:solidFill>
              </a:rPr>
              <a:t>Botón «🔄 Sincronizar ESPN» jala marcadores finales y recalcula en segundos la tabla de posiciones general de la sucursal.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MANUAL OPERATIVO • JUEGO 2: QUINIELAS (JUGADOR)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Manual: Quinielas &amp; Pick'em — Experiencia del Cliente y Puntos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4114800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eenshot_quiniela_pi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3749039" cy="298385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120640" y="1463040"/>
            <a:ext cx="6309360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0" y="1645920"/>
            <a:ext cx="5760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B612"/>
                </a:solidFill>
              </a:defRPr>
            </a:pPr>
            <a:r>
              <a:t>🎯 Sistema Visual de Puntuación por Colores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0E676"/>
                </a:solidFill>
              </a:rPr>
              <a:t>🟩 +3 Puntos (Verde Esmeralda): </a:t>
            </a:r>
            <a:r>
              <a:rPr sz="1050">
                <a:solidFill>
                  <a:srgbClr val="FFFFFF"/>
                </a:solidFill>
              </a:rPr>
              <a:t>Marcador Exacto. Si el cliente pronostica exactamente el resultado del partido, su tarjeta se ilumina en verde brillante y suma 3 puntos.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FFB612"/>
                </a:solidFill>
              </a:rPr>
              <a:t>🟨 +1 Punto (Dorado): </a:t>
            </a:r>
            <a:r>
              <a:rPr sz="1050">
                <a:solidFill>
                  <a:srgbClr val="FFFFFF"/>
                </a:solidFill>
              </a:rPr>
              <a:t>Ganador Acertado. Si no acertó el marcador pero sí acertó quién ganó el encuentro, recibe 1 punto con medalla dorada.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FFFFFF"/>
                </a:solidFill>
              </a:rPr>
              <a:t>📊 Tabla de Líderes en Vivo: </a:t>
            </a:r>
            <a:r>
              <a:rPr sz="1050">
                <a:solidFill>
                  <a:srgbClr val="94A3B8"/>
                </a:solidFill>
              </a:rPr>
              <a:t>Durante las transmisiones del domingo, el comensal ve su nombre subir y bajar en el Leaderboard en tiempo real.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FF5722"/>
                </a:solidFill>
              </a:rPr>
              <a:t>🏆 Podio de Campeones Automático: </a:t>
            </a:r>
            <a:r>
              <a:rPr sz="1050">
                <a:solidFill>
                  <a:srgbClr val="FFFFFF"/>
                </a:solidFill>
              </a:rPr>
              <a:t>Al concluir el último juego, la app despliega el podio con 1°, 2° y 3° lugar para entrega de premios de la gerencia.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MANUAL OPERATIVO • JUEGO 3: SURVIVOR (ADMIN)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Manual: Survivor Multi-Semana — Panel del Gerente (admin.html)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4114800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urvivor_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3749039" cy="467033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120640" y="1463040"/>
            <a:ext cx="6309360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0" y="1645920"/>
            <a:ext cx="5760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B612"/>
                </a:solidFill>
              </a:defRPr>
            </a:pPr>
            <a:r>
              <a:t>🏆 Arquitectura Multi-Torneo Survivor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FFB612"/>
                </a:solidFill>
              </a:rPr>
              <a:t>1. Crear Torneo Survivor: </a:t>
            </a:r>
            <a:r>
              <a:rPr sz="1050">
                <a:solidFill>
                  <a:srgbClr val="FFFFFF"/>
                </a:solidFill>
              </a:rPr>
              <a:t>Clic en «➕ Crear Nuevo Survivor», ingresar nombre (ej. «Survivor NFL 2026 Juriquilla») y definir fecha de inicio.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FF5722"/>
                </a:solidFill>
              </a:rPr>
              <a:t>2. Configuración Semanal: </a:t>
            </a:r>
            <a:r>
              <a:rPr sz="1050">
                <a:solidFill>
                  <a:srgbClr val="FFFFFF"/>
                </a:solidFill>
              </a:rPr>
              <a:t>Selector de semana (Semana 1, 2, 3...) con opción de «🔒 Bloquear Pronósticos» antes del partido de jueves o domingo.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0E676"/>
                </a:solidFill>
              </a:rPr>
              <a:t>3. Evaluación Automática con ESPN: </a:t>
            </a:r>
            <a:r>
              <a:rPr sz="1050">
                <a:solidFill>
                  <a:srgbClr val="FFFFFF"/>
                </a:solidFill>
              </a:rPr>
              <a:t>Botón «⚡ Evaluar Survivor con ESPN». El sistema compara las elecciones con los resultados oficiales y elimina a quienes eligieron equipos perdedores.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3498DB"/>
                </a:solidFill>
              </a:rPr>
              <a:t>4. Panel de Estado en Vivo: </a:t>
            </a:r>
            <a:r>
              <a:rPr sz="1050">
                <a:solidFill>
                  <a:srgbClr val="FFFFFF"/>
                </a:solidFill>
              </a:rPr>
              <a:t>Muestra la lista de participantes activos en verde y eliminados en rojo. Botón para compartir estatus en grupos de WhatsApp.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MANUAL OPERATIVO • JUEGO 3: SURVIVOR (JUGADOR)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Manual: Survivor — Experiencia del Cliente y Tensión Semanal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10149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B612"/>
                </a:solidFill>
              </a:defRPr>
            </a:pPr>
            <a:r>
              <a:t>⚡ La Regla de Oro que Asegura Visitas Cada Semana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B612"/>
                </a:solidFill>
              </a:rPr>
              <a:t>1. Una Elección por Semana: </a:t>
            </a:r>
            <a:r>
              <a:rPr sz="1100">
                <a:solidFill>
                  <a:srgbClr val="FFFFFF"/>
                </a:solidFill>
              </a:rPr>
              <a:t>El cliente elige un equipo que cree que ganará su partido en la jornada activa.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5722"/>
                </a:solidFill>
              </a:rPr>
              <a:t>2. Condición de Vida o Muerte: </a:t>
            </a:r>
            <a:r>
              <a:rPr sz="1100">
                <a:solidFill>
                  <a:srgbClr val="FFFFFF"/>
                </a:solidFill>
              </a:rPr>
              <a:t>Si tu equipo gana, sigues con vida en el torneo. Si empata o pierde, quedas ELIMINADO de la competencia.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0E676"/>
                </a:solidFill>
              </a:rPr>
              <a:t>3. Prohibido Repetir Equipo: </a:t>
            </a:r>
            <a:r>
              <a:rPr sz="1100">
                <a:solidFill>
                  <a:srgbClr val="FFFFFF"/>
                </a:solidFill>
              </a:rPr>
              <a:t>Una vez que elegiste a un equipo (ej. Chiefs en semana 1), la app lo bloquea; jamás podrás volver a seleccionarlo en toda la temporada.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98DB"/>
                </a:solidFill>
              </a:rPr>
              <a:t>4. Retención Brutal en Sucursal: </a:t>
            </a:r>
            <a:r>
              <a:rPr sz="1100">
                <a:solidFill>
                  <a:srgbClr val="FFFFFF"/>
                </a:solidFill>
              </a:rPr>
              <a:t>Los sobrevivientes asisten religiosamente cada domingo al restaurante para seguir en vivo a su equipo elegido, garantizando consumo continuo durante meses.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MANUAL OPERATIVO • JUEGO 4: FIRST STRIKER (ADMIN)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Manual: First Striker Wins — Planilla de 15 Minutos (admin.html)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4114800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rst_striker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3749039" cy="197703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120640" y="1463040"/>
            <a:ext cx="6309360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0" y="1645920"/>
            <a:ext cx="5760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B612"/>
                </a:solidFill>
              </a:defRPr>
            </a:pPr>
            <a:r>
              <a:t>⚽ Gestión del Minuto del Primer Gol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FFB612"/>
                </a:solidFill>
              </a:rPr>
              <a:t>1. Creación en Fútbol (Liga MX / Champions): </a:t>
            </a:r>
            <a:r>
              <a:rPr sz="1050">
                <a:solidFill>
                  <a:srgbClr val="FFFFFF"/>
                </a:solidFill>
              </a:rPr>
              <a:t>Buscar partido en ESPN y pulsar «Crear Juego Minuto del Gol». Genera automáticamente los bloques: 0-15', 16-30', 31-45', 46-60', 61-75', 76-90' y Sin Goles.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0E676"/>
                </a:solidFill>
              </a:rPr>
              <a:t>2. Detección en Vivo con ESPN: </a:t>
            </a:r>
            <a:r>
              <a:rPr sz="1050">
                <a:solidFill>
                  <a:srgbClr val="FFFFFF"/>
                </a:solidFill>
              </a:rPr>
              <a:t>Botón «⚡ Detectar 1er Gol en Vivo (ESPN)». La app extrae minuto y segundo oficial de la anotación automáticamente.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FF5722"/>
                </a:solidFill>
              </a:rPr>
              <a:t>3. Regla «El Más Cercano Sin Pasarse»: </a:t>
            </a:r>
            <a:r>
              <a:rPr sz="1050">
                <a:solidFill>
                  <a:srgbClr val="FFFFFF"/>
                </a:solidFill>
              </a:rPr>
              <a:t>Si el gol cae al minuto 18, gana el bloque 16-30'. Si estaba libre, gana el bloque anterior más cercano (los bloques posteriores quedan descalificados).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3498DB"/>
                </a:solidFill>
              </a:rPr>
              <a:t>4. Tiempos Extras y Penales: </a:t>
            </a:r>
            <a:r>
              <a:rPr sz="1050">
                <a:solidFill>
                  <a:srgbClr val="FFFFFF"/>
                </a:solidFill>
              </a:rPr>
              <a:t>Módulos dedicados para activar prórroga (91-105' y 106-120') o tanda de penales con sorteo automático de los 10 tiros.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MANUAL OPERATIVO • JUEGO 4: FIRST STRIKER (JUGADOR)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Manual: First Striker Wins — Experiencia del Cliente (Premio Rápido)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10149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B612"/>
                </a:solidFill>
              </a:defRPr>
            </a:pPr>
            <a:r>
              <a:t>⏱️ Adrenalina Desde el Segundo 1 de Juego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B612"/>
                </a:solidFill>
              </a:rPr>
              <a:t>1. Cero Espera Aburrida: </a:t>
            </a:r>
            <a:r>
              <a:rPr sz="1100">
                <a:solidFill>
                  <a:srgbClr val="FFFFFF"/>
                </a:solidFill>
              </a:rPr>
              <a:t>A diferencia de las quinielas donde hay que esperar 90 minutos, en First Striker la emoción arranca con el silbatazo inicial.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FFFF"/>
                </a:solidFill>
              </a:rPr>
              <a:t>2. Selección en Pantalla: </a:t>
            </a:r>
            <a:r>
              <a:rPr sz="1100">
                <a:solidFill>
                  <a:srgbClr val="94A3B8"/>
                </a:solidFill>
              </a:rPr>
              <a:t>El cliente toca el bloque de 15 minutos en el que cree que se abrirá el marcador.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0E676"/>
                </a:solidFill>
              </a:rPr>
              <a:t>3. Premio Inmediato en Mesa: </a:t>
            </a:r>
            <a:r>
              <a:rPr sz="1100">
                <a:solidFill>
                  <a:srgbClr val="FFFFFF"/>
                </a:solidFill>
              </a:rPr>
              <a:t>Si cae gol en el minuto 8, la mesa que tenía el bloque 0-15' festeja de inmediato. El mesero les entrega su premio (ej. ronda de shots o botana) mientras el partido apenas va comenzando.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5722"/>
                </a:solidFill>
              </a:rPr>
              <a:t>4. Consumo en Cascada: </a:t>
            </a:r>
            <a:r>
              <a:rPr sz="1100">
                <a:solidFill>
                  <a:srgbClr val="FFFFFF"/>
                </a:solidFill>
              </a:rPr>
              <a:t>Ganar temprano pone de excelente humor a la mesa, detonando pedidos de cerveza y comida adicionales durante el resto del encuentro.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MANUAL OPERATIVO • JUEGO 5: TRIVIA EN TV (ADMIN)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Manual: Trivia Deportiva en TV con IA — Modo Bar Host (admin.html)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10149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B612"/>
                </a:solidFill>
              </a:defRPr>
            </a:pPr>
            <a:r>
              <a:t>🧠 Creación en 10s con Gemini IA y Control de Pantallas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B612"/>
                </a:solidFill>
              </a:rPr>
              <a:t>1. Generación con IA en 10 Segundos: </a:t>
            </a:r>
            <a:r>
              <a:rPr sz="1100">
                <a:solidFill>
                  <a:srgbClr val="FFFFFF"/>
                </a:solidFill>
              </a:rPr>
              <a:t>Clic en «✨ Crear Trivia con IA». El gerente escribe el tema (ej. «Super Bowl e Historia de la NFL» o «Clásico Chivas vs América»). Gemini IA genera 5 a 10 preguntas con respuestas verificadas.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0E676"/>
                </a:solidFill>
              </a:rPr>
              <a:t>2. Proyección en Pantallas de TV: </a:t>
            </a:r>
            <a:r>
              <a:rPr sz="1100">
                <a:solidFill>
                  <a:srgbClr val="FFFFFF"/>
                </a:solidFill>
              </a:rPr>
              <a:t>Clic en «🖥️ Abrir Pantalla de TV». Se abre la interfaz de televisión con un código PIN visible y un código QR gigante para que todo el restaurante escanee desde sus mesas.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5722"/>
                </a:solidFill>
              </a:rPr>
              <a:t>3. Control Remoto del Gerente: </a:t>
            </a:r>
            <a:r>
              <a:rPr sz="1100">
                <a:solidFill>
                  <a:srgbClr val="FFFFFF"/>
                </a:solidFill>
              </a:rPr>
              <a:t>Botones de host: «▶️ Empezar Trivia Automática (10s)», «⏱️ Revelar Respuesta», «📊 Ver Posiciones» y «⏩ Siguiente Pregunta».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98DB"/>
                </a:solidFill>
              </a:rPr>
              <a:t>4. Podio Final en TV: </a:t>
            </a:r>
            <a:r>
              <a:rPr sz="1100">
                <a:solidFill>
                  <a:srgbClr val="FFFFFF"/>
                </a:solidFill>
              </a:rPr>
              <a:t>Al terminar, pulsa «🏆 Revelar Podio Final». Las pantallas del bar se llenan de fuegos artificiales y proyectan a los 3 ganadores ante todo el restaurante.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MANUAL OPERATIVO • JUEGO 5: TRIVIA EN TV (JUGADOR)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Manual: Trivia en TV — Experiencia del Cliente en Medio Tiempo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4114800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rst_striker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3749039" cy="197703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120640" y="1463040"/>
            <a:ext cx="6309360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0" y="1645920"/>
            <a:ext cx="5760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B612"/>
                </a:solidFill>
              </a:defRPr>
            </a:pPr>
            <a:r>
              <a:t>🎉 Dinamizar el Medio Tiempo y Eliminar Tiempos Muertos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FFB612"/>
                </a:solidFill>
              </a:rPr>
              <a:t>1. Conexión Instantánea con PIN: </a:t>
            </a:r>
            <a:r>
              <a:rPr sz="1050">
                <a:solidFill>
                  <a:srgbClr val="FFFFFF"/>
                </a:solidFill>
              </a:rPr>
              <a:t>El comensal escanea el QR de la tele o escribe el PIN en su celular para unirse a la sala en segundos.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FF5722"/>
                </a:solidFill>
              </a:rPr>
              <a:t>2. Temporizador de 15 Segundos: </a:t>
            </a:r>
            <a:r>
              <a:rPr sz="1050">
                <a:solidFill>
                  <a:srgbClr val="FFFFFF"/>
                </a:solidFill>
              </a:rPr>
              <a:t>Cada pregunta aparece con cuenta regresiva y 4 botones de colores en los celulares.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0E676"/>
                </a:solidFill>
              </a:rPr>
              <a:t>3. Velocidad y Precisión: </a:t>
            </a:r>
            <a:r>
              <a:rPr sz="1050">
                <a:solidFill>
                  <a:srgbClr val="FFFFFF"/>
                </a:solidFill>
              </a:rPr>
              <a:t>Quien responde bien y más rápido recibe puntos de bonificación por velocidad.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3498DB"/>
                </a:solidFill>
              </a:rPr>
              <a:t>4. Retención del Comedor: </a:t>
            </a:r>
            <a:r>
              <a:rPr sz="1050">
                <a:solidFill>
                  <a:srgbClr val="FFFFFF"/>
                </a:solidFill>
              </a:rPr>
              <a:t>El medio tiempo suele provocar distracciones; la trivia mantiene al comensal pegado a la pantalla, pidiendo otra ronda de cervezas y botanas.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HERRAMIENTAS OPERATIVAS • BINGO &amp; MARKETING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Manual: GameDay Bingo y Generador de Material Promocional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FFB6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B612"/>
                </a:solidFill>
              </a:defRPr>
            </a:pPr>
            <a:r>
              <a:t>🎯 GameDay Bingo (Cartón 5x5)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FFB612"/>
                </a:solidFill>
              </a:rPr>
              <a:t>• Eventos del Partido: </a:t>
            </a:r>
            <a:r>
              <a:rPr sz="1050">
                <a:solidFill>
                  <a:srgbClr val="FFFFFF"/>
                </a:solidFill>
              </a:rPr>
              <a:t>Cartones con sucesos reales: Touchdown largo, Gol de tiro libre, Tarjeta roja, Revisión de VAR, Gol de campo fallado.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FFFFFF"/>
                </a:solidFill>
              </a:rPr>
              <a:t>• VAR Automático: </a:t>
            </a:r>
            <a:r>
              <a:rPr sz="1050">
                <a:solidFill>
                  <a:srgbClr val="94A3B8"/>
                </a:solidFill>
              </a:rPr>
              <a:t>Vinculación con ESPN para marcar automáticamente eventos oficiales del encuentro.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0E676"/>
                </a:solidFill>
              </a:rPr>
              <a:t>• Canto de ¡Bingo! en Mesa: </a:t>
            </a:r>
            <a:r>
              <a:rPr sz="1050">
                <a:solidFill>
                  <a:srgbClr val="FFFFFF"/>
                </a:solidFill>
              </a:rPr>
              <a:t>El primer cliente en completar línea o cartón lleno gana premio de barra.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FF5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5722"/>
                </a:solidFill>
              </a:defRPr>
            </a:pPr>
            <a:r>
              <a:t>🎨 Generador de Material Promocional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FF5722"/>
                </a:solidFill>
              </a:rPr>
              <a:t>• Banners en Alta Resolución: </a:t>
            </a:r>
            <a:r>
              <a:rPr sz="1050">
                <a:solidFill>
                  <a:srgbClr val="FFFFFF"/>
                </a:solidFill>
              </a:rPr>
              <a:t>Herramienta interna para generar artes de los partidos del fin de semana con 1 solo clic.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FFFFFF"/>
                </a:solidFill>
              </a:rPr>
              <a:t>• Formatos para WhatsApp e Instagram: </a:t>
            </a:r>
            <a:r>
              <a:rPr sz="1050">
                <a:solidFill>
                  <a:srgbClr val="94A3B8"/>
                </a:solidFill>
              </a:rPr>
              <a:t>Diseños verticales listos para historias y estados con los premios en juego.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0E676"/>
                </a:solidFill>
              </a:rPr>
              <a:t>• Enlaces con Mensajes Pre-redactados: </a:t>
            </a:r>
            <a:r>
              <a:rPr sz="1050">
                <a:solidFill>
                  <a:srgbClr val="FFFFFF"/>
                </a:solidFill>
              </a:rPr>
              <a:t>Botones para invitar a grupos de clientes a unirse a la quiniela antes del fin de semana.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RENTABILIDAD &amp; COSTO • ESTRATEGIA DE PREMIOS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Ingeniería de Premios: Alto Valor Percibido con Bajo Costo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3429000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0E676"/>
                </a:solidFill>
              </a:defRPr>
            </a:pPr>
            <a:r>
              <a:t>🍗 Bajo Costo de Insumo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Se premia con insumos de alto valor percibido pero con costo gastronómico menor al 20%-25%:</a:t>
            </a:r>
            <a:br/>
            <a:br/>
            <a:r>
              <a:t>• Órdenes de alitas de cortesía.</a:t>
            </a:r>
            <a:br/>
            <a:r>
              <a:t>• Tarros o yardas de cerveza.</a:t>
            </a:r>
            <a:br/>
            <a:r>
              <a:t>• Shots especiales de la casa.</a:t>
            </a:r>
            <a:br/>
            <a:r>
              <a:t>• Postres al centro de la mesa.</a:t>
            </a:r>
            <a:br/>
            <a:br/>
            <a:r>
              <a:t>El restaurante no regala efectivo; regala experiencias gastronómicas.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79976" y="1508760"/>
            <a:ext cx="3429000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FFB6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62856" y="169164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B612"/>
                </a:solidFill>
              </a:defRPr>
            </a:pPr>
            <a:r>
              <a:t>🍻 El Efecto Mesa Ganadora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Nadie va solo a un sports bar a cobrar un premio de alitas o cerveza.</a:t>
            </a:r>
            <a:br/>
            <a:br/>
            <a:r>
              <a:t>El ganador casi siempre invita a 2, 3 o 4 amigos a su mesa. Mientras él consume su cortesía, sus acompañantes piden hamburguesas, entradas y bebidas completas.</a:t>
            </a:r>
            <a:br/>
            <a:br/>
            <a:r>
              <a:t>El premio de $50 pesos de costo detona cuentas de $800 a $1,500 pesos.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28432" y="1508760"/>
            <a:ext cx="3429000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FF5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11312" y="169164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5722"/>
                </a:solidFill>
              </a:defRPr>
            </a:pPr>
            <a:r>
              <a:t>🎟️ Retorno Entre Semana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Los premios mayores de quiniela semanal se configuran como cupones válidos de Lunes a Jueves.</a:t>
            </a:r>
            <a:br/>
            <a:br/>
            <a:r>
              <a:t>Esto convierte el éxito del fin de semana en tráfico garantizado durante los días de menor venta del restaurante, llenando mesas que normalmente estarían vacías.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EQUIPO &amp; SERVICIO • EL FACTOR HUMANO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Gamificación de Meseros: Mejor Servicio, Más Venta y Mejores Propinas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10149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B612"/>
                </a:solidFill>
              </a:defRPr>
            </a:pPr>
            <a:r>
              <a:t>🤝 Por Qué el Personal de Piso Ama la Plataforma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B612"/>
                </a:solidFill>
              </a:rPr>
              <a:t>1. Atribución Directa en Mesa: </a:t>
            </a:r>
            <a:r>
              <a:rPr sz="1100">
                <a:solidFill>
                  <a:srgbClr val="FFFFFF"/>
                </a:solidFill>
              </a:rPr>
              <a:t>Cada comensal selecciona el nombre de su mesero al registrarse. Esto permite identificar a los meseros que más invitan y promueven la experiencia en su estación.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0E676"/>
                </a:solidFill>
              </a:rPr>
              <a:t>2. Incentivo Natural en Propinas: </a:t>
            </a:r>
            <a:r>
              <a:rPr sz="1100">
                <a:solidFill>
                  <a:srgbClr val="FFFFFF"/>
                </a:solidFill>
              </a:rPr>
              <a:t>Un comensal entretenido y compitiendo permanece 40 minutos más en el restaurante y pide 1 o 2 rondas adicionales. Esto eleva directamente el importe del ticket y, por ende, la propina para el mesero.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98DB"/>
                </a:solidFill>
              </a:rPr>
              <a:t>3. El Mejor Rompehielos de Servicio: </a:t>
            </a:r>
            <a:r>
              <a:rPr sz="1100">
                <a:solidFill>
                  <a:srgbClr val="FFFFFF"/>
                </a:solidFill>
              </a:rPr>
              <a:t>El mesero no llega a presionar venta; llega ofreciendo un juego gratuito y entretenido de la casa. Esto genera simpatía, rompe la frialdad y mejora los comentarios de servicio en Google y redes.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5722"/>
                </a:solidFill>
              </a:rPr>
              <a:t>4. Concurso Interno de Servicio: </a:t>
            </a:r>
            <a:r>
              <a:rPr sz="1100">
                <a:solidFill>
                  <a:srgbClr val="FFFFFF"/>
                </a:solidFill>
              </a:rPr>
              <a:t>La plataforma permite premiar al mesero con más comensales activos de la semana (ej. bono de turno o comida especial).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CALENDARIO OPERATIVO • ESTRATEGIA GRADUAL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Estrategia Gradual: Calendario Quirúrgico sin Saturar al Cliente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10149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B612"/>
                </a:solidFill>
              </a:defRPr>
            </a:pPr>
            <a:r>
              <a:t>📅 No se Juegan Todos los Juegos Todos los Días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B612"/>
                </a:solidFill>
              </a:rPr>
              <a:t>• Jueves (NFL Thursday Night Football): </a:t>
            </a:r>
            <a:r>
              <a:rPr sz="1100">
                <a:solidFill>
                  <a:srgbClr val="FFFFFF"/>
                </a:solidFill>
              </a:rPr>
              <a:t>Abrir Quiniela Exprés del partido o First Striker. Ideal para animar la noche y abrir el fin de semana.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FFFF"/>
                </a:solidFill>
              </a:rPr>
              <a:t>• Viernes (Liga MX): </a:t>
            </a:r>
            <a:r>
              <a:rPr sz="1100">
                <a:solidFill>
                  <a:srgbClr val="94A3B8"/>
                </a:solidFill>
              </a:rPr>
              <a:t>Dinámica de First Striker (El Gol del Partido) en los juegos estelares nocturnos.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0E676"/>
                </a:solidFill>
              </a:rPr>
              <a:t>• Sábado y Domingo (Cartelera Estelar): </a:t>
            </a:r>
            <a:r>
              <a:rPr sz="1100">
                <a:solidFill>
                  <a:srgbClr val="FFFFFF"/>
                </a:solidFill>
              </a:rPr>
              <a:t>Despliegue completo: Football Grids de 100 Casillas en los partidos estelares de NFL, Quinielas de fin de semana completas y Trivia en vivo durante el medio tiempo.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5722"/>
                </a:solidFill>
              </a:rPr>
              <a:t>• Lunes (Monday Night Football): </a:t>
            </a:r>
            <a:r>
              <a:rPr sz="1100">
                <a:solidFill>
                  <a:srgbClr val="FFFFFF"/>
                </a:solidFill>
              </a:rPr>
              <a:t>Cierre de jornada, resolución de Quiniela semanal y coronación del Survivor.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98DB"/>
                </a:solidFill>
              </a:rPr>
              <a:t>• Regla de Oro Operativa: </a:t>
            </a:r>
            <a:r>
              <a:rPr sz="1100">
                <a:solidFill>
                  <a:srgbClr val="FFFFFF"/>
                </a:solidFill>
              </a:rPr>
              <a:t>Cada día tiene su dinamismo; mantener la frescura y la expectativa del comensal sin abrumarlo con demasiadas dinámicas a la vez.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IMPACTO EN NEGOCIO • MÉTRICAS Y ROI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Retorno de Inversión: Métricas Comprobadas en la Operación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542032" cy="448056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FFB6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011680"/>
            <a:ext cx="2267712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3600" b="1">
                <a:solidFill>
                  <a:srgbClr val="FFB612"/>
                </a:solidFill>
              </a:defRPr>
            </a:pPr>
            <a:r>
              <a:t>+22%</a:t>
            </a:r>
          </a:p>
          <a:p>
            <a:pPr algn="ctr">
              <a:spcAft>
                <a:spcPts val="1400"/>
              </a:spcAft>
              <a:defRPr sz="1300" b="1">
                <a:solidFill>
                  <a:srgbClr val="FFFFFF"/>
                </a:solidFill>
              </a:defRPr>
            </a:pPr>
            <a:r>
              <a:t>TICKET PROMEDIO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Mayor consumo de bebidas, cervezas y botanas por mesa durante los 4 cuartos.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56432" y="1645920"/>
            <a:ext cx="2542032" cy="448056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93592" y="2011680"/>
            <a:ext cx="2267712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3600" b="1">
                <a:solidFill>
                  <a:srgbClr val="00E676"/>
                </a:solidFill>
              </a:defRPr>
            </a:pPr>
            <a:r>
              <a:t>+35%</a:t>
            </a:r>
          </a:p>
          <a:p>
            <a:pPr algn="ctr">
              <a:spcAft>
                <a:spcPts val="1400"/>
              </a:spcAft>
              <a:defRPr sz="1300" b="1">
                <a:solidFill>
                  <a:srgbClr val="FFFFFF"/>
                </a:solidFill>
              </a:defRPr>
            </a:pPr>
            <a:r>
              <a:t>TIEMPO DE ESTANCIA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Los comensales se quedan en el restaurante hasta el final para ver la resolución de sus premios.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645920"/>
            <a:ext cx="2542032" cy="448056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FF5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8504" y="2011680"/>
            <a:ext cx="2267712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3600" b="1">
                <a:solidFill>
                  <a:srgbClr val="FF5722"/>
                </a:solidFill>
              </a:defRPr>
            </a:pPr>
            <a:r>
              <a:t>3x a 4x</a:t>
            </a:r>
          </a:p>
          <a:p>
            <a:pPr algn="ctr">
              <a:spcAft>
                <a:spcPts val="1400"/>
              </a:spcAft>
              <a:defRPr sz="1300" b="1">
                <a:solidFill>
                  <a:srgbClr val="FFFFFF"/>
                </a:solidFill>
              </a:defRPr>
            </a:pPr>
            <a:r>
              <a:t>FRECUENCIA DE VISITA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Retención mensual de fanáticos recurrentes que regresan cada semana.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645920"/>
            <a:ext cx="2542032" cy="448056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43416" y="2011680"/>
            <a:ext cx="2267712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3600" b="1">
                <a:solidFill>
                  <a:srgbClr val="3498DB"/>
                </a:solidFill>
              </a:defRPr>
            </a:pPr>
            <a:r>
              <a:t>$0</a:t>
            </a:r>
          </a:p>
          <a:p>
            <a:pPr algn="ctr">
              <a:spcAft>
                <a:spcPts val="1400"/>
              </a:spcAft>
              <a:defRPr sz="1300" b="1">
                <a:solidFill>
                  <a:srgbClr val="FFFFFF"/>
                </a:solidFill>
              </a:defRPr>
            </a:pPr>
            <a:r>
              <a:t>COSTO DE PAPELERÍA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Cero hojas impresas, cero plumones y cero horas hombre de cálculo manual.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B612"/>
                </a:solidFill>
              </a:defRPr>
            </a:pPr>
            <a:r>
              <a:t>PLAN DE ACCIÓN • CONCLUSIÓN EN JURIQUILLA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Plan de Despliegue en Juriquilla y Conclusión Ejecutiva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4846320"/>
          </a:xfrm>
          <a:prstGeom prst="roundRect">
            <a:avLst/>
          </a:prstGeom>
          <a:solidFill>
            <a:srgbClr val="141A26"/>
          </a:solidFill>
          <a:ln w="19050">
            <a:solidFill>
              <a:srgbClr val="2832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10149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B612"/>
                </a:solidFill>
              </a:defRPr>
            </a:pPr>
            <a:r>
              <a:t>🚀 Cuatro Pasos Sencillos para la Activación en Sucursal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B612"/>
                </a:solidFill>
              </a:rPr>
              <a:t>PASO 1: Colocación de Material en Mesas: </a:t>
            </a:r>
            <a:r>
              <a:rPr sz="1100">
                <a:solidFill>
                  <a:srgbClr val="FFFFFF"/>
                </a:solidFill>
              </a:rPr>
              <a:t>Impresión y colocación de códigos QR en los acrílicos de mesas estratégicas de Juriquilla.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5722"/>
                </a:solidFill>
              </a:rPr>
              <a:t>PASO 2: Capacitación Rápida al Personal (15 Minutos): </a:t>
            </a:r>
            <a:r>
              <a:rPr sz="1100">
                <a:solidFill>
                  <a:srgbClr val="FFFFFF"/>
                </a:solidFill>
              </a:rPr>
              <a:t>Demostración breve a capitanes y meseros para que conozcan cómo invitar a los clientes y cómo entregar las cortesías ganadoras.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0E676"/>
                </a:solidFill>
              </a:rPr>
              <a:t>PASO 3: Estreno con Steelers Nation Querétaro: </a:t>
            </a:r>
            <a:r>
              <a:rPr sz="1100">
                <a:solidFill>
                  <a:srgbClr val="FFFFFF"/>
                </a:solidFill>
              </a:rPr>
              <a:t>Activación estelar con el club de fans el próximo domingo de partido como prueba de fuego en vivo.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98DB"/>
                </a:solidFill>
              </a:rPr>
              <a:t>PASO 4: Medición de Resultados y Expansión: </a:t>
            </a:r>
            <a:r>
              <a:rPr sz="1100">
                <a:solidFill>
                  <a:srgbClr val="FFFFFF"/>
                </a:solidFill>
              </a:rPr>
              <a:t>Revisión de métricas de consumo y ticket promedio con gerencia general para posterior despliegue en Álamos y Paseo Querétaro.</a:t>
            </a:r>
          </a:p>
          <a:p>
            <a:pPr algn="ctr">
              <a:spcBef>
                <a:spcPts val="1600"/>
              </a:spcBef>
              <a:defRPr sz="1300" b="1">
                <a:solidFill>
                  <a:srgbClr val="FFD100"/>
                </a:solidFill>
              </a:defRPr>
            </a:pPr>
            <a:r>
              <a:t>«Drinks &amp; Wins no es un gasto; es una herramienta de ventas, lealtad y servicio creada desde la operación real del restaurante.»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