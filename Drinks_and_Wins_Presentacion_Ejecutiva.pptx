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Rounded Rectangle 1"/>
          <p:cNvSpPr/>
          <p:nvPr/>
        </p:nvSpPr>
        <p:spPr>
          <a:xfrm>
            <a:off x="731520" y="731520"/>
            <a:ext cx="10728655" cy="5394960"/>
          </a:xfrm>
          <a:prstGeom prst="roundRect">
            <a:avLst/>
          </a:prstGeom>
          <a:solidFill>
            <a:srgbClr val="141A26"/>
          </a:solidFill>
          <a:ln w="19050">
            <a:solidFill>
              <a:srgbClr val="FFB6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jpg"/>
          <p:cNvPicPr>
            <a:picLocks noChangeAspect="1"/>
          </p:cNvPicPr>
          <p:nvPr/>
        </p:nvPicPr>
        <p:blipFill>
          <a:blip r:embed="rId2"/>
          <a:stretch>
            <a:fillRect/>
          </a:stretch>
        </p:blipFill>
        <p:spPr>
          <a:xfrm>
            <a:off x="1188720" y="1280160"/>
            <a:ext cx="850821" cy="1097280"/>
          </a:xfrm>
          <a:prstGeom prst="rect">
            <a:avLst/>
          </a:prstGeom>
        </p:spPr>
      </p:pic>
      <p:sp>
        <p:nvSpPr>
          <p:cNvPr id="4" name="TextBox 3"/>
          <p:cNvSpPr txBox="1"/>
          <p:nvPr/>
        </p:nvSpPr>
        <p:spPr>
          <a:xfrm>
            <a:off x="1188720" y="2560320"/>
            <a:ext cx="9601200" cy="3108960"/>
          </a:xfrm>
          <a:prstGeom prst="rect">
            <a:avLst/>
          </a:prstGeom>
          <a:noFill/>
        </p:spPr>
        <p:txBody>
          <a:bodyPr wrap="square">
            <a:spAutoFit/>
          </a:bodyPr>
          <a:lstStyle/>
          <a:p>
            <a:pPr>
              <a:spcAft>
                <a:spcPts val="600"/>
              </a:spcAft>
              <a:defRPr sz="1200" b="1">
                <a:solidFill>
                  <a:srgbClr val="FFB612"/>
                </a:solidFill>
              </a:defRPr>
            </a:pPr>
            <a:r>
              <a:t>EXPERIENCIA DIGITAL EN MESA • VALIDADA EN BARRA</a:t>
            </a:r>
          </a:p>
          <a:p>
            <a:pPr>
              <a:spcAft>
                <a:spcPts val="800"/>
              </a:spcAft>
              <a:defRPr sz="4400" b="1">
                <a:solidFill>
                  <a:srgbClr val="FFFFFF"/>
                </a:solidFill>
              </a:defRPr>
            </a:pPr>
            <a:r>
              <a:t>DRINKS &amp; WINS</a:t>
            </a:r>
          </a:p>
          <a:p>
            <a:pPr>
              <a:spcAft>
                <a:spcPts val="2000"/>
              </a:spcAft>
              <a:defRPr sz="1900">
                <a:solidFill>
                  <a:srgbClr val="FFD100"/>
                </a:solidFill>
              </a:defRPr>
            </a:pPr>
            <a:r>
              <a:t>La Plataforma Deportiva que Convierte Comensales en Fanáticos Recurrentes</a:t>
            </a:r>
          </a:p>
          <a:p>
            <a:pPr>
              <a:defRPr sz="1300">
                <a:solidFill>
                  <a:srgbClr val="94A3B8"/>
                </a:solidFill>
              </a:defRPr>
            </a:pPr>
            <a:r>
              <a:t>De la Barra de Álamos a la Escala de Marca • Presentación para Dirección y Gerencia General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VALIDACIÓN ORGÁNICA • HISTORIA DE ÉXITO</a:t>
            </a:r>
          </a:p>
          <a:p>
            <a:pPr>
              <a:defRPr sz="2400" b="1">
                <a:solidFill>
                  <a:srgbClr val="FFFFFF"/>
                </a:solidFill>
              </a:defRPr>
            </a:pPr>
            <a:r>
              <a:t>Nacido en Barra: Una Idea Probada con Clientes Reales</a:t>
            </a:r>
          </a:p>
        </p:txBody>
      </p:sp>
      <p:sp>
        <p:nvSpPr>
          <p:cNvPr id="3" name="Rounded Rectangle 2"/>
          <p:cNvSpPr/>
          <p:nvPr/>
        </p:nvSpPr>
        <p:spPr>
          <a:xfrm>
            <a:off x="731520" y="1645920"/>
            <a:ext cx="107286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920240"/>
            <a:ext cx="9966960" cy="4023360"/>
          </a:xfrm>
          <a:prstGeom prst="rect">
            <a:avLst/>
          </a:prstGeom>
          <a:noFill/>
        </p:spPr>
        <p:txBody>
          <a:bodyPr wrap="square">
            <a:spAutoFit/>
          </a:bodyPr>
          <a:lstStyle/>
          <a:p>
            <a:pPr>
              <a:spcAft>
                <a:spcPts val="1400"/>
              </a:spcAft>
              <a:defRPr sz="1800" b="1">
                <a:solidFill>
                  <a:srgbClr val="FFB612"/>
                </a:solidFill>
              </a:defRPr>
            </a:pPr>
            <a:r>
              <a:t>💬 «Beto, ¿qué onda? ¿Para cuándo la próxima quiniela o trivia?»</a:t>
            </a:r>
          </a:p>
          <a:p>
            <a:pPr>
              <a:spcAft>
                <a:spcPts val="200"/>
              </a:spcAft>
              <a:defRPr sz="1450" b="1">
                <a:solidFill>
                  <a:srgbClr val="FFD100"/>
                </a:solidFill>
              </a:defRPr>
            </a:pPr>
            <a:r>
              <a:t>🍺 El Origen en Álamos</a:t>
            </a:r>
          </a:p>
          <a:p>
            <a:pPr>
              <a:spcAft>
                <a:spcPts val="1200"/>
              </a:spcAft>
              <a:defRPr sz="1200">
                <a:solidFill>
                  <a:srgbClr val="FFFFFF"/>
                </a:solidFill>
              </a:defRPr>
            </a:pPr>
            <a:r>
              <a:t>Drinks &amp; Wins no nació como una teoría de oficina. Nació directamente en la barra de Álamos, donde Beto empezó a organizar quinielas y trivias entre las mesas de forma orgánica. La respuesta de los comensales fue abrumadora: las mesas competían, consumían más y se quedaban hasta el final del partido.</a:t>
            </a:r>
          </a:p>
          <a:p>
            <a:pPr>
              <a:spcAft>
                <a:spcPts val="200"/>
              </a:spcAft>
              <a:defRPr sz="1450" b="1">
                <a:solidFill>
                  <a:srgbClr val="FFD100"/>
                </a:solidFill>
              </a:defRPr>
            </a:pPr>
            <a:r>
              <a:t>🤝 Creación de Clientes Frecuentes y Leales</a:t>
            </a:r>
          </a:p>
          <a:p>
            <a:pPr>
              <a:spcAft>
                <a:spcPts val="1200"/>
              </a:spcAft>
              <a:defRPr sz="1200">
                <a:solidFill>
                  <a:srgbClr val="FFFFFF"/>
                </a:solidFill>
              </a:defRPr>
            </a:pPr>
            <a:r>
              <a:t>Esa dinámica creó una comunidad fiel que no solo llenaba el restaurante en días de juego, sino que hoy en día, cuando ven a Beto en la calle en Querétaro, lo reconocen y le preguntan entusiasmados por la siguiente fecha.</a:t>
            </a:r>
          </a:p>
          <a:p>
            <a:pPr>
              <a:spcAft>
                <a:spcPts val="200"/>
              </a:spcAft>
              <a:defRPr sz="1450" b="1">
                <a:solidFill>
                  <a:srgbClr val="FFD100"/>
                </a:solidFill>
              </a:defRPr>
            </a:pPr>
            <a:r>
              <a:t>🚀 De la Libreta de Papel a la Tecnología PWA con IA</a:t>
            </a:r>
          </a:p>
          <a:p>
            <a:pPr>
              <a:spcAft>
                <a:spcPts val="1200"/>
              </a:spcAft>
              <a:defRPr sz="1200">
                <a:solidFill>
                  <a:srgbClr val="FFFFFF"/>
                </a:solidFill>
              </a:defRPr>
            </a:pPr>
            <a:r>
              <a:t>Lo que antes se hacía con hojas de papel, plumas perdidas y conteos manuales agotadores, ahora está digitalizado al 100% en la nube, con conexión oficial a ESPN e Inteligencia Artificial para crear jornadas en segundos.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ESTRATEGIA COMERCIAL INTELIGENTE</a:t>
            </a:r>
          </a:p>
          <a:p>
            <a:pPr>
              <a:defRPr sz="2400" b="1">
                <a:solidFill>
                  <a:srgbClr val="FFFFFF"/>
                </a:solidFill>
              </a:defRPr>
            </a:pPr>
            <a:r>
              <a:t>Estrategia Gradual y Punta de Lanza con Fan Clubs</a:t>
            </a:r>
          </a:p>
        </p:txBody>
      </p:sp>
      <p:sp>
        <p:nvSpPr>
          <p:cNvPr id="3" name="Rounded Rectangle 2"/>
          <p:cNvSpPr/>
          <p:nvPr/>
        </p:nvSpPr>
        <p:spPr>
          <a:xfrm>
            <a:off x="731520" y="1645920"/>
            <a:ext cx="521208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4663440" cy="4023360"/>
          </a:xfrm>
          <a:prstGeom prst="rect">
            <a:avLst/>
          </a:prstGeom>
          <a:noFill/>
        </p:spPr>
        <p:txBody>
          <a:bodyPr wrap="square">
            <a:spAutoFit/>
          </a:bodyPr>
          <a:lstStyle/>
          <a:p>
            <a:pPr>
              <a:spcAft>
                <a:spcPts val="1000"/>
              </a:spcAft>
              <a:defRPr sz="1700" b="1">
                <a:solidFill>
                  <a:srgbClr val="FFB612"/>
                </a:solidFill>
              </a:defRPr>
            </a:pPr>
            <a:r>
              <a:t>🎯 No Saturar: El Juego Indicado en el Día Indicado</a:t>
            </a:r>
          </a:p>
          <a:p>
            <a:pPr>
              <a:spcAft>
                <a:spcPts val="100"/>
              </a:spcAft>
              <a:defRPr sz="1300" b="1">
                <a:solidFill>
                  <a:srgbClr val="FF5722"/>
                </a:solidFill>
              </a:defRPr>
            </a:pPr>
            <a:r>
              <a:t>📅 Selección Quirúrgica de Fechas</a:t>
            </a:r>
          </a:p>
          <a:p>
            <a:pPr>
              <a:spcAft>
                <a:spcPts val="800"/>
              </a:spcAft>
              <a:defRPr sz="1100">
                <a:solidFill>
                  <a:srgbClr val="FFFFFF"/>
                </a:solidFill>
              </a:defRPr>
            </a:pPr>
            <a:r>
              <a:t>No se tienen que jugar todos los juegos todos los días. Saturar al cliente cansa. La clave es activar dinámicas exclusivamente en partidos estelares:</a:t>
            </a:r>
          </a:p>
          <a:p>
            <a:pPr>
              <a:spcAft>
                <a:spcPts val="100"/>
              </a:spcAft>
              <a:defRPr sz="1300" b="1">
                <a:solidFill>
                  <a:srgbClr val="FF5722"/>
                </a:solidFill>
              </a:defRPr>
            </a:pPr>
            <a:r>
              <a:t>🏈 Jueves, Domingos y Lunes</a:t>
            </a:r>
          </a:p>
          <a:p>
            <a:pPr>
              <a:spcAft>
                <a:spcPts val="800"/>
              </a:spcAft>
              <a:defRPr sz="1100">
                <a:solidFill>
                  <a:srgbClr val="FFFFFF"/>
                </a:solidFill>
              </a:defRPr>
            </a:pPr>
            <a:r>
              <a:t>Quinielas y Grids de NFL durante transmisiones estelares.</a:t>
            </a:r>
          </a:p>
          <a:p>
            <a:pPr>
              <a:spcAft>
                <a:spcPts val="100"/>
              </a:spcAft>
              <a:defRPr sz="1300" b="1">
                <a:solidFill>
                  <a:srgbClr val="FF5722"/>
                </a:solidFill>
              </a:defRPr>
            </a:pPr>
            <a:r>
              <a:t>⚽ Viernes a Domingo</a:t>
            </a:r>
          </a:p>
          <a:p>
            <a:pPr>
              <a:spcAft>
                <a:spcPts val="800"/>
              </a:spcAft>
              <a:defRPr sz="1100">
                <a:solidFill>
                  <a:srgbClr val="FFFFFF"/>
                </a:solidFill>
              </a:defRPr>
            </a:pPr>
            <a:r>
              <a:t>Quinielas de Liga MX, First Striker y Clásicos de fútbol.</a:t>
            </a:r>
          </a:p>
          <a:p>
            <a:pPr>
              <a:spcAft>
                <a:spcPts val="100"/>
              </a:spcAft>
              <a:defRPr sz="1300" b="1">
                <a:solidFill>
                  <a:srgbClr val="FF5722"/>
                </a:solidFill>
              </a:defRPr>
            </a:pPr>
            <a:r>
              <a:t>🧠 Medios Tiempos Selectos</a:t>
            </a:r>
          </a:p>
          <a:p>
            <a:pPr>
              <a:spcAft>
                <a:spcPts val="800"/>
              </a:spcAft>
              <a:defRPr sz="1100">
                <a:solidFill>
                  <a:srgbClr val="FFFFFF"/>
                </a:solidFill>
              </a:defRPr>
            </a:pPr>
            <a:r>
              <a:t>Trivias rápidas de 10 min para reactivar consumo en la pausa.</a:t>
            </a:r>
          </a:p>
        </p:txBody>
      </p:sp>
      <p:sp>
        <p:nvSpPr>
          <p:cNvPr id="5" name="Rounded Rectangle 4"/>
          <p:cNvSpPr/>
          <p:nvPr/>
        </p:nvSpPr>
        <p:spPr>
          <a:xfrm>
            <a:off x="6217920" y="1645920"/>
            <a:ext cx="521208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920240"/>
            <a:ext cx="4663440" cy="4023360"/>
          </a:xfrm>
          <a:prstGeom prst="rect">
            <a:avLst/>
          </a:prstGeom>
          <a:noFill/>
        </p:spPr>
        <p:txBody>
          <a:bodyPr wrap="square">
            <a:spAutoFit/>
          </a:bodyPr>
          <a:lstStyle/>
          <a:p>
            <a:pPr>
              <a:spcAft>
                <a:spcPts val="1000"/>
              </a:spcAft>
              <a:defRPr sz="1700" b="1">
                <a:solidFill>
                  <a:srgbClr val="00E676"/>
                </a:solidFill>
              </a:defRPr>
            </a:pPr>
            <a:r>
              <a:t>🛡️ Punta de Lanza: Steelers Nation QRO (71+ Fans)</a:t>
            </a:r>
          </a:p>
          <a:p>
            <a:pPr>
              <a:spcAft>
                <a:spcPts val="100"/>
              </a:spcAft>
              <a:defRPr sz="1300" b="1">
                <a:solidFill>
                  <a:srgbClr val="FFD100"/>
                </a:solidFill>
              </a:defRPr>
            </a:pPr>
            <a:r>
              <a:t>💳 Audiencia Cautiva y Lista</a:t>
            </a:r>
          </a:p>
          <a:p>
            <a:pPr>
              <a:spcAft>
                <a:spcPts val="800"/>
              </a:spcAft>
              <a:defRPr sz="1100">
                <a:solidFill>
                  <a:srgbClr val="FFFFFF"/>
                </a:solidFill>
              </a:defRPr>
            </a:pPr>
            <a:r>
              <a:t>En Querétaro ya contamos con más de 71 fanáticos registrados en la app oficial de Steelers Fan Club, con su credencial digital PWA activa en sus celulares.</a:t>
            </a:r>
          </a:p>
          <a:p>
            <a:pPr>
              <a:spcAft>
                <a:spcPts val="100"/>
              </a:spcAft>
              <a:defRPr sz="1300" b="1">
                <a:solidFill>
                  <a:srgbClr val="FFD100"/>
                </a:solidFill>
              </a:defRPr>
            </a:pPr>
            <a:r>
              <a:t>📲 Botón Directo Integrado</a:t>
            </a:r>
          </a:p>
          <a:p>
            <a:pPr>
              <a:spcAft>
                <a:spcPts val="800"/>
              </a:spcAft>
              <a:defRPr sz="1100">
                <a:solidFill>
                  <a:srgbClr val="FFFFFF"/>
                </a:solidFill>
              </a:defRPr>
            </a:pPr>
            <a:r>
              <a:t>Su credencial ya incluye el botón especial que los enlaza directamente a Drinks &amp; Wins para participar en las dinámicas de cada partido.</a:t>
            </a:r>
          </a:p>
          <a:p>
            <a:pPr>
              <a:spcAft>
                <a:spcPts val="100"/>
              </a:spcAft>
              <a:defRPr sz="1300" b="1">
                <a:solidFill>
                  <a:srgbClr val="FFD100"/>
                </a:solidFill>
              </a:defRPr>
            </a:pPr>
            <a:r>
              <a:t>🍻 Asistencia Garantizada</a:t>
            </a:r>
          </a:p>
          <a:p>
            <a:pPr>
              <a:spcAft>
                <a:spcPts val="800"/>
              </a:spcAft>
              <a:defRPr sz="1100">
                <a:solidFill>
                  <a:srgbClr val="FFFFFF"/>
                </a:solidFill>
              </a:defRPr>
            </a:pPr>
            <a:r>
              <a:t>Este grupo ya llena mesas, pide rondas continuas y consume activamente alitas y cerveza semana a semana. Es la base perfecta para arrancar con éxito probado.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EFICIENCIA OPERATIVA</a:t>
            </a:r>
          </a:p>
          <a:p>
            <a:pPr>
              <a:defRPr sz="2400" b="1">
                <a:solidFill>
                  <a:srgbClr val="FFFFFF"/>
                </a:solidFill>
              </a:defRPr>
            </a:pPr>
            <a:r>
              <a:t>Inteligencia Artificial y Automatización: Cero Carga para el Gerente</a:t>
            </a:r>
          </a:p>
        </p:txBody>
      </p:sp>
      <p:sp>
        <p:nvSpPr>
          <p:cNvPr id="3" name="Rounded Rectangle 2"/>
          <p:cNvSpPr/>
          <p:nvPr/>
        </p:nvSpPr>
        <p:spPr>
          <a:xfrm>
            <a:off x="7315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2864815" cy="4023360"/>
          </a:xfrm>
          <a:prstGeom prst="rect">
            <a:avLst/>
          </a:prstGeom>
          <a:noFill/>
        </p:spPr>
        <p:txBody>
          <a:bodyPr wrap="square">
            <a:spAutoFit/>
          </a:bodyPr>
          <a:lstStyle/>
          <a:p>
            <a:pPr>
              <a:spcAft>
                <a:spcPts val="1400"/>
              </a:spcAft>
              <a:defRPr sz="1650" b="1">
                <a:solidFill>
                  <a:srgbClr val="FFB612"/>
                </a:solidFill>
              </a:defRPr>
            </a:pPr>
            <a:r>
              <a:t>⚡ Creación de Jornadas en Segundos</a:t>
            </a:r>
          </a:p>
          <a:p>
            <a:pPr>
              <a:defRPr sz="1300">
                <a:solidFill>
                  <a:srgbClr val="FFFFFF"/>
                </a:solidFill>
              </a:defRPr>
            </a:pPr>
            <a:r>
              <a:t>Antes: Un gerente tardaba hasta 2 horas buscando partidos en internet, armando tablas en Excel e imprimiendo hojas.</a:t>
            </a:r>
            <a:br/>
            <a:r>
              <a:t>Hoy: Conexión directa a ESPN y algoritmos que importan partidos oficiales, horarios y escudos con un solo clic.</a:t>
            </a:r>
          </a:p>
        </p:txBody>
      </p:sp>
      <p:sp>
        <p:nvSpPr>
          <p:cNvPr id="5" name="Rounded Rectangle 4"/>
          <p:cNvSpPr/>
          <p:nvPr/>
        </p:nvSpPr>
        <p:spPr>
          <a:xfrm>
            <a:off x="43891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920240"/>
            <a:ext cx="2864815" cy="4023360"/>
          </a:xfrm>
          <a:prstGeom prst="rect">
            <a:avLst/>
          </a:prstGeom>
          <a:noFill/>
        </p:spPr>
        <p:txBody>
          <a:bodyPr wrap="square">
            <a:spAutoFit/>
          </a:bodyPr>
          <a:lstStyle/>
          <a:p>
            <a:pPr>
              <a:spcAft>
                <a:spcPts val="1400"/>
              </a:spcAft>
              <a:defRPr sz="1650" b="1">
                <a:solidFill>
                  <a:srgbClr val="FF5722"/>
                </a:solidFill>
              </a:defRPr>
            </a:pPr>
            <a:r>
              <a:t>🧠 Generación de Trivias Deportivas con IA</a:t>
            </a:r>
          </a:p>
          <a:p>
            <a:pPr>
              <a:defRPr sz="1300">
                <a:solidFill>
                  <a:srgbClr val="FFFFFF"/>
                </a:solidFill>
              </a:defRPr>
            </a:pPr>
            <a:r>
              <a:t>La Inteligencia Artificial genera sets completos de preguntas deportivas temáticas (NFL, Liga MX, datos curiosos de Steelers) adaptadas al partido del día en menos de 10 segundos, listas para proyectar en TV.</a:t>
            </a:r>
          </a:p>
        </p:txBody>
      </p:sp>
      <p:sp>
        <p:nvSpPr>
          <p:cNvPr id="7" name="Rounded Rectangle 6"/>
          <p:cNvSpPr/>
          <p:nvPr/>
        </p:nvSpPr>
        <p:spPr>
          <a:xfrm>
            <a:off x="80467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20240"/>
            <a:ext cx="2864815" cy="4023360"/>
          </a:xfrm>
          <a:prstGeom prst="rect">
            <a:avLst/>
          </a:prstGeom>
          <a:noFill/>
        </p:spPr>
        <p:txBody>
          <a:bodyPr wrap="square">
            <a:spAutoFit/>
          </a:bodyPr>
          <a:lstStyle/>
          <a:p>
            <a:pPr>
              <a:spcAft>
                <a:spcPts val="1400"/>
              </a:spcAft>
              <a:defRPr sz="1650" b="1">
                <a:solidFill>
                  <a:srgbClr val="00E676"/>
                </a:solidFill>
              </a:defRPr>
            </a:pPr>
            <a:r>
              <a:t>📊 Marcadores Exactos y Calificación en Tiempo Real</a:t>
            </a:r>
          </a:p>
          <a:p>
            <a:pPr>
              <a:defRPr sz="1300">
                <a:solidFill>
                  <a:srgbClr val="FFFFFF"/>
                </a:solidFill>
              </a:defRPr>
            </a:pPr>
            <a:r>
              <a:t>La plataforma detecta marcadores finales en vivo vía API de ESPN, calcula aciertos exactos (+3) o ganadores (+1), genera la tabla y proclama al campeón de forma 100% automática sin errores humanos.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DETALLE PASO A PASO POR JUEGO</a:t>
            </a:r>
          </a:p>
          <a:p>
            <a:pPr>
              <a:defRPr sz="2400" b="1">
                <a:solidFill>
                  <a:srgbClr val="FFFFFF"/>
                </a:solidFill>
              </a:defRPr>
            </a:pPr>
            <a:r>
              <a:t>Juego 1: Quinielas Pick'em (NFL y Liga MX)</a:t>
            </a:r>
          </a:p>
        </p:txBody>
      </p:sp>
      <p:sp>
        <p:nvSpPr>
          <p:cNvPr id="3" name="Rounded Rectangle 2"/>
          <p:cNvSpPr/>
          <p:nvPr/>
        </p:nvSpPr>
        <p:spPr>
          <a:xfrm>
            <a:off x="731520" y="1645920"/>
            <a:ext cx="685800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114800"/>
          </a:xfrm>
          <a:prstGeom prst="rect">
            <a:avLst/>
          </a:prstGeom>
          <a:noFill/>
        </p:spPr>
        <p:txBody>
          <a:bodyPr wrap="square">
            <a:spAutoFit/>
          </a:bodyPr>
          <a:lstStyle/>
          <a:p>
            <a:pPr>
              <a:spcAft>
                <a:spcPts val="200"/>
              </a:spcAft>
              <a:defRPr sz="1400" b="1">
                <a:solidFill>
                  <a:srgbClr val="FFB612"/>
                </a:solidFill>
              </a:defRPr>
            </a:pPr>
            <a:r>
              <a:t>🛠️ 1. CÓMO LO CREA EL GERENTE (60 seg)</a:t>
            </a:r>
          </a:p>
          <a:p>
            <a:pPr>
              <a:spcAft>
                <a:spcPts val="1000"/>
              </a:spcAft>
              <a:defRPr sz="1150">
                <a:solidFill>
                  <a:srgbClr val="FFFFFF"/>
                </a:solidFill>
              </a:defRPr>
            </a:pPr>
            <a:r>
              <a:t>Entra al panel Admin, selecciona la liga (NFL, Liga MX o fútbol europeo). El sistema jala los partidos oficiales con escudos de ESPN. Toca los partidos a incluir, asigna el premio (ej. Orden de Alitas + Cerveza) y da clic en 'Crear Quiniela'.</a:t>
            </a:r>
          </a:p>
          <a:p>
            <a:pPr>
              <a:spcAft>
                <a:spcPts val="200"/>
              </a:spcAft>
              <a:defRPr sz="1400" b="1">
                <a:solidFill>
                  <a:srgbClr val="FFB612"/>
                </a:solidFill>
              </a:defRPr>
            </a:pPr>
            <a:r>
              <a:t>📱 2. CÓMO ENTRA Y JUEGA EL CLIENTE</a:t>
            </a:r>
          </a:p>
          <a:p>
            <a:pPr>
              <a:spcAft>
                <a:spcPts val="1000"/>
              </a:spcAft>
              <a:defRPr sz="1150">
                <a:solidFill>
                  <a:srgbClr val="FFFFFF"/>
                </a:solidFill>
              </a:defRPr>
            </a:pPr>
            <a:r>
              <a:t>Escanea el QR de su mesa, ingresa con su nombre o Google, selecciona a su mesero y captura sus marcadores o ganadores en la pantalla interactiva antes del silbatazo inicial.</a:t>
            </a:r>
          </a:p>
          <a:p>
            <a:pPr>
              <a:spcAft>
                <a:spcPts val="200"/>
              </a:spcAft>
              <a:defRPr sz="1400" b="1">
                <a:solidFill>
                  <a:srgbClr val="FFB612"/>
                </a:solidFill>
              </a:defRPr>
            </a:pPr>
            <a:r>
              <a:t>🏆 3. CÓMO GANA Y CANJEA</a:t>
            </a:r>
          </a:p>
          <a:p>
            <a:pPr>
              <a:spcAft>
                <a:spcPts val="1000"/>
              </a:spcAft>
              <a:defRPr sz="1150">
                <a:solidFill>
                  <a:srgbClr val="FFFFFF"/>
                </a:solidFill>
              </a:defRPr>
            </a:pPr>
            <a:r>
              <a:t>Durante el partido, los marcadores cambian en tiempo real. Marcador exacto: +3 pts (verde), Ganador: +1 pt (dorado), Error: 0 pts (rojo). Al finalizar, el comensal número 1 en el podio recibe la corona y muestra su cupón digital en barra para reclamar su premio.</a:t>
            </a:r>
          </a:p>
        </p:txBody>
      </p:sp>
      <p:pic>
        <p:nvPicPr>
          <p:cNvPr id="5" name="Picture 4" descr="screenshot_podium_standings.png"/>
          <p:cNvPicPr>
            <a:picLocks noChangeAspect="1"/>
          </p:cNvPicPr>
          <p:nvPr/>
        </p:nvPicPr>
        <p:blipFill>
          <a:blip r:embed="rId2"/>
          <a:stretch>
            <a:fillRect/>
          </a:stretch>
        </p:blipFill>
        <p:spPr>
          <a:xfrm>
            <a:off x="7863840" y="1645920"/>
            <a:ext cx="8669867"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DETALLE PASO A PASO POR JUEGO</a:t>
            </a:r>
          </a:p>
          <a:p>
            <a:pPr>
              <a:defRPr sz="2400" b="1">
                <a:solidFill>
                  <a:srgbClr val="FFFFFF"/>
                </a:solidFill>
              </a:defRPr>
            </a:pPr>
            <a:r>
              <a:t>Juego 2: Football Grids (100 Casillas Digitales)</a:t>
            </a:r>
          </a:p>
        </p:txBody>
      </p:sp>
      <p:sp>
        <p:nvSpPr>
          <p:cNvPr id="3" name="Rounded Rectangle 2"/>
          <p:cNvSpPr/>
          <p:nvPr/>
        </p:nvSpPr>
        <p:spPr>
          <a:xfrm>
            <a:off x="731520" y="1645920"/>
            <a:ext cx="685800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114800"/>
          </a:xfrm>
          <a:prstGeom prst="rect">
            <a:avLst/>
          </a:prstGeom>
          <a:noFill/>
        </p:spPr>
        <p:txBody>
          <a:bodyPr wrap="square">
            <a:spAutoFit/>
          </a:bodyPr>
          <a:lstStyle/>
          <a:p>
            <a:pPr>
              <a:spcAft>
                <a:spcPts val="200"/>
              </a:spcAft>
              <a:defRPr sz="1400" b="1">
                <a:solidFill>
                  <a:srgbClr val="FF5722"/>
                </a:solidFill>
              </a:defRPr>
            </a:pPr>
            <a:r>
              <a:t>🛠️ 1. CÓMO LO CREA EL GERENTE (30 seg)</a:t>
            </a:r>
          </a:p>
          <a:p>
            <a:pPr>
              <a:spcAft>
                <a:spcPts val="1000"/>
              </a:spcAft>
              <a:defRPr sz="1150">
                <a:solidFill>
                  <a:srgbClr val="FFFFFF"/>
                </a:solidFill>
              </a:defRPr>
            </a:pPr>
            <a:r>
              <a:t>Selecciona el partido estelar de NFL (Sunday Night o Steelers). El sistema genera la cuadrícula digital de 10x10 (100 casillas) con los logotipos oficiales de los dos equipos rivales.</a:t>
            </a:r>
          </a:p>
          <a:p>
            <a:pPr>
              <a:spcAft>
                <a:spcPts val="200"/>
              </a:spcAft>
              <a:defRPr sz="1400" b="1">
                <a:solidFill>
                  <a:srgbClr val="FF5722"/>
                </a:solidFill>
              </a:defRPr>
            </a:pPr>
            <a:r>
              <a:t>📱 2. CÓMO ENTRA Y JUEGA EL CLIENTE</a:t>
            </a:r>
          </a:p>
          <a:p>
            <a:pPr>
              <a:spcAft>
                <a:spcPts val="1000"/>
              </a:spcAft>
              <a:defRPr sz="1150">
                <a:solidFill>
                  <a:srgbClr val="FFFFFF"/>
                </a:solidFill>
              </a:defRPr>
            </a:pPr>
            <a:r>
              <a:t>Escanea el QR en mesa, ve la cuadrícula en su celular y toca las casillas vacías que desea apartar con su nombre o apodo, apoyando a su equipo con amigos.</a:t>
            </a:r>
          </a:p>
          <a:p>
            <a:pPr>
              <a:spcAft>
                <a:spcPts val="200"/>
              </a:spcAft>
              <a:defRPr sz="1400" b="1">
                <a:solidFill>
                  <a:srgbClr val="FF5722"/>
                </a:solidFill>
              </a:defRPr>
            </a:pPr>
            <a:r>
              <a:t>🏆 3. CÓMO GANA Y MANTIENE EL CONSUMO</a:t>
            </a:r>
          </a:p>
          <a:p>
            <a:pPr>
              <a:spcAft>
                <a:spcPts val="1000"/>
              </a:spcAft>
              <a:defRPr sz="1150">
                <a:solidFill>
                  <a:srgbClr val="FFFFFF"/>
                </a:solidFill>
              </a:defRPr>
            </a:pPr>
            <a:r>
              <a:t>Al inicio del partido, el sistema sortea los dígitos del 0 al 9 en filas y columnas. ¡Hay 4 GANADORES por partido! (Al término del 1Q, Medio Tiempo, 3Q y Final según el último dígito del marcador). Mantiene a la mesa comiendo y bebiendo durante las 3 horas completas.</a:t>
            </a:r>
          </a:p>
        </p:txBody>
      </p:sp>
      <p:pic>
        <p:nvPicPr>
          <p:cNvPr id="5" name="Picture 4" descr="tarjeta_2_vive_la_nfl.png"/>
          <p:cNvPicPr>
            <a:picLocks noChangeAspect="1"/>
          </p:cNvPicPr>
          <p:nvPr/>
        </p:nvPicPr>
        <p:blipFill>
          <a:blip r:embed="rId2"/>
          <a:stretch>
            <a:fillRect/>
          </a:stretch>
        </p:blipFill>
        <p:spPr>
          <a:xfrm>
            <a:off x="7955279" y="1645920"/>
            <a:ext cx="2571750"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DETALLE PASO A PASO POR JUEGO</a:t>
            </a:r>
          </a:p>
          <a:p>
            <a:pPr>
              <a:defRPr sz="2400" b="1">
                <a:solidFill>
                  <a:srgbClr val="FFFFFF"/>
                </a:solidFill>
              </a:defRPr>
            </a:pPr>
            <a:r>
              <a:t>Juego 3: First Striker Wins (El Gol del Partido)</a:t>
            </a:r>
          </a:p>
        </p:txBody>
      </p:sp>
      <p:sp>
        <p:nvSpPr>
          <p:cNvPr id="3" name="Rounded Rectangle 2"/>
          <p:cNvSpPr/>
          <p:nvPr/>
        </p:nvSpPr>
        <p:spPr>
          <a:xfrm>
            <a:off x="731520" y="1645920"/>
            <a:ext cx="685800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114800"/>
          </a:xfrm>
          <a:prstGeom prst="rect">
            <a:avLst/>
          </a:prstGeom>
          <a:noFill/>
        </p:spPr>
        <p:txBody>
          <a:bodyPr wrap="square">
            <a:spAutoFit/>
          </a:bodyPr>
          <a:lstStyle/>
          <a:p>
            <a:pPr>
              <a:spcAft>
                <a:spcPts val="200"/>
              </a:spcAft>
              <a:defRPr sz="1400" b="1">
                <a:solidFill>
                  <a:srgbClr val="00E676"/>
                </a:solidFill>
              </a:defRPr>
            </a:pPr>
            <a:r>
              <a:t>🛠️ 1. CÓMO LO CREA EL GERENTE (30 seg)</a:t>
            </a:r>
          </a:p>
          <a:p>
            <a:pPr>
              <a:spcAft>
                <a:spcPts val="1000"/>
              </a:spcAft>
              <a:defRPr sz="1150">
                <a:solidFill>
                  <a:srgbClr val="FFFFFF"/>
                </a:solidFill>
              </a:defRPr>
            </a:pPr>
            <a:r>
              <a:t>Elige el partido estelar de fútbol (ej. Clásico Nacional o Champions League) y define el premio inmediato (ej. Jarra de Cerveza o 1 Orden de Boneless para la mesa).</a:t>
            </a:r>
          </a:p>
          <a:p>
            <a:pPr>
              <a:spcAft>
                <a:spcPts val="200"/>
              </a:spcAft>
              <a:defRPr sz="1400" b="1">
                <a:solidFill>
                  <a:srgbClr val="00E676"/>
                </a:solidFill>
              </a:defRPr>
            </a:pPr>
            <a:r>
              <a:t>📱 2. CÓMO ENTRA Y JUEGA EL CLIENTE</a:t>
            </a:r>
          </a:p>
          <a:p>
            <a:pPr>
              <a:spcAft>
                <a:spcPts val="1000"/>
              </a:spcAft>
              <a:defRPr sz="1150">
                <a:solidFill>
                  <a:srgbClr val="FFFFFF"/>
                </a:solidFill>
              </a:defRPr>
            </a:pPr>
            <a:r>
              <a:t>Desde su celular, el comensal selecciona qué equipo anotará primero y en qué bloque de 15 minutos caerá el gol (1-15', 16-30', 31-45', etc.), o la opción de 'Sin Goles'.</a:t>
            </a:r>
          </a:p>
          <a:p>
            <a:pPr>
              <a:spcAft>
                <a:spcPts val="200"/>
              </a:spcAft>
              <a:defRPr sz="1400" b="1">
                <a:solidFill>
                  <a:srgbClr val="00E676"/>
                </a:solidFill>
              </a:defRPr>
            </a:pPr>
            <a:r>
              <a:t>🏆 3. CÓMO GANA: ADRENALINA DESDE EL MINUTO 1</a:t>
            </a:r>
          </a:p>
          <a:p>
            <a:pPr>
              <a:spcAft>
                <a:spcPts val="1000"/>
              </a:spcAft>
              <a:defRPr sz="1150">
                <a:solidFill>
                  <a:srgbClr val="FFFFFF"/>
                </a:solidFill>
              </a:defRPr>
            </a:pPr>
            <a:r>
              <a:t>En cuanto cae la primera anotación del partido, el sistema valida el minuto oficial de juego. El comensal que acertó el bloque de tiempo gana en el acto, generando gritos de festejo en el bar y rondas de brindis.</a:t>
            </a:r>
          </a:p>
        </p:txBody>
      </p:sp>
      <p:pic>
        <p:nvPicPr>
          <p:cNvPr id="5" name="Picture 4" descr="tarjeta_3_instinto_goleador.png"/>
          <p:cNvPicPr>
            <a:picLocks noChangeAspect="1"/>
          </p:cNvPicPr>
          <p:nvPr/>
        </p:nvPicPr>
        <p:blipFill>
          <a:blip r:embed="rId2"/>
          <a:stretch>
            <a:fillRect/>
          </a:stretch>
        </p:blipFill>
        <p:spPr>
          <a:xfrm>
            <a:off x="7955279" y="1645920"/>
            <a:ext cx="257175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DETALLE PASO A PASO POR JUEGO</a:t>
            </a:r>
          </a:p>
          <a:p>
            <a:pPr>
              <a:defRPr sz="2400" b="1">
                <a:solidFill>
                  <a:srgbClr val="FFFFFF"/>
                </a:solidFill>
              </a:defRPr>
            </a:pPr>
            <a:r>
              <a:t>Juegos 4 y 5: Trivia en Pantallas y Survivor NFL</a:t>
            </a:r>
          </a:p>
        </p:txBody>
      </p:sp>
      <p:sp>
        <p:nvSpPr>
          <p:cNvPr id="3" name="Rounded Rectangle 2"/>
          <p:cNvSpPr/>
          <p:nvPr/>
        </p:nvSpPr>
        <p:spPr>
          <a:xfrm>
            <a:off x="731520" y="1645920"/>
            <a:ext cx="521208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4663440" cy="4114800"/>
          </a:xfrm>
          <a:prstGeom prst="rect">
            <a:avLst/>
          </a:prstGeom>
          <a:noFill/>
        </p:spPr>
        <p:txBody>
          <a:bodyPr wrap="square">
            <a:spAutoFit/>
          </a:bodyPr>
          <a:lstStyle/>
          <a:p>
            <a:pPr>
              <a:spcAft>
                <a:spcPts val="800"/>
              </a:spcAft>
              <a:defRPr sz="1650" b="1">
                <a:solidFill>
                  <a:srgbClr val="FFB612"/>
                </a:solidFill>
              </a:defRPr>
            </a:pPr>
            <a:r>
              <a:t>🧠 Trivia en Vivo en Pantallas de TV</a:t>
            </a:r>
          </a:p>
          <a:p>
            <a:pPr>
              <a:spcAft>
                <a:spcPts val="100"/>
              </a:spcAft>
              <a:defRPr sz="1300" b="1">
                <a:solidFill>
                  <a:srgbClr val="FF5722"/>
                </a:solidFill>
              </a:defRPr>
            </a:pPr>
            <a:r>
              <a:t>🛠️ Creación con IA</a:t>
            </a:r>
          </a:p>
          <a:p>
            <a:pPr>
              <a:spcAft>
                <a:spcPts val="600"/>
              </a:spcAft>
              <a:defRPr sz="1100">
                <a:solidFill>
                  <a:srgbClr val="FFFFFF"/>
                </a:solidFill>
              </a:defRPr>
            </a:pPr>
            <a:r>
              <a:t>El gerente genera 10 preguntas deportivas temáticas con IA en 10 segundos.</a:t>
            </a:r>
          </a:p>
          <a:p>
            <a:pPr>
              <a:spcAft>
                <a:spcPts val="100"/>
              </a:spcAft>
              <a:defRPr sz="1300" b="1">
                <a:solidFill>
                  <a:srgbClr val="FF5722"/>
                </a:solidFill>
              </a:defRPr>
            </a:pPr>
            <a:r>
              <a:t>📱 Juego en Vivo</a:t>
            </a:r>
          </a:p>
          <a:p>
            <a:pPr>
              <a:spcAft>
                <a:spcPts val="600"/>
              </a:spcAft>
              <a:defRPr sz="1100">
                <a:solidFill>
                  <a:srgbClr val="FFFFFF"/>
                </a:solidFill>
              </a:defRPr>
            </a:pPr>
            <a:r>
              <a:t>En el medio tiempo, la TV del bar muestra la pregunta con cuenta regresiva. Los clientes responden contrarreloj desde su smartphone.</a:t>
            </a:r>
          </a:p>
          <a:p>
            <a:pPr>
              <a:spcAft>
                <a:spcPts val="100"/>
              </a:spcAft>
              <a:defRPr sz="1300" b="1">
                <a:solidFill>
                  <a:srgbClr val="FF5722"/>
                </a:solidFill>
              </a:defRPr>
            </a:pPr>
            <a:r>
              <a:t>🏆 Ganador</a:t>
            </a:r>
          </a:p>
          <a:p>
            <a:pPr>
              <a:spcAft>
                <a:spcPts val="600"/>
              </a:spcAft>
              <a:defRPr sz="1100">
                <a:solidFill>
                  <a:srgbClr val="FFFFFF"/>
                </a:solidFill>
              </a:defRPr>
            </a:pPr>
            <a:r>
              <a:t>La pantalla de TV muestra el podio del bar en tiempo real con fanfarrias y aplausos en el restaurante.</a:t>
            </a:r>
          </a:p>
        </p:txBody>
      </p:sp>
      <p:sp>
        <p:nvSpPr>
          <p:cNvPr id="5" name="Rounded Rectangle 4"/>
          <p:cNvSpPr/>
          <p:nvPr/>
        </p:nvSpPr>
        <p:spPr>
          <a:xfrm>
            <a:off x="6217920" y="1645920"/>
            <a:ext cx="521208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828800"/>
            <a:ext cx="4663440" cy="4114800"/>
          </a:xfrm>
          <a:prstGeom prst="rect">
            <a:avLst/>
          </a:prstGeom>
          <a:noFill/>
        </p:spPr>
        <p:txBody>
          <a:bodyPr wrap="square">
            <a:spAutoFit/>
          </a:bodyPr>
          <a:lstStyle/>
          <a:p>
            <a:pPr>
              <a:spcAft>
                <a:spcPts val="800"/>
              </a:spcAft>
              <a:defRPr sz="1650" b="1">
                <a:solidFill>
                  <a:srgbClr val="00E676"/>
                </a:solidFill>
              </a:defRPr>
            </a:pPr>
            <a:r>
              <a:t>🛡️ Survivor NFL: Fidelización Semanal</a:t>
            </a:r>
          </a:p>
          <a:p>
            <a:pPr>
              <a:spcAft>
                <a:spcPts val="100"/>
              </a:spcAft>
              <a:defRPr sz="1300" b="1">
                <a:solidFill>
                  <a:srgbClr val="FFD100"/>
                </a:solidFill>
              </a:defRPr>
            </a:pPr>
            <a:r>
              <a:t>🛠️ Creación Única</a:t>
            </a:r>
          </a:p>
          <a:p>
            <a:pPr>
              <a:spcAft>
                <a:spcPts val="600"/>
              </a:spcAft>
              <a:defRPr sz="1100">
                <a:solidFill>
                  <a:srgbClr val="FFFFFF"/>
                </a:solidFill>
              </a:defRPr>
            </a:pPr>
            <a:r>
              <a:t>Se abre al inicio de la temporada regular de NFL.</a:t>
            </a:r>
          </a:p>
          <a:p>
            <a:pPr>
              <a:spcAft>
                <a:spcPts val="100"/>
              </a:spcAft>
              <a:defRPr sz="1300" b="1">
                <a:solidFill>
                  <a:srgbClr val="FFD100"/>
                </a:solidFill>
              </a:defRPr>
            </a:pPr>
            <a:r>
              <a:t>📱 Elección Semanal</a:t>
            </a:r>
          </a:p>
          <a:p>
            <a:pPr>
              <a:spcAft>
                <a:spcPts val="600"/>
              </a:spcAft>
              <a:defRPr sz="1100">
                <a:solidFill>
                  <a:srgbClr val="FFFFFF"/>
                </a:solidFill>
              </a:defRPr>
            </a:pPr>
            <a:r>
              <a:t>Cada comensal elige 1 equipo ganador por semana sin repetir. Si su equipo gana, sobrevive; si pierde, queda eliminado.</a:t>
            </a:r>
          </a:p>
          <a:p>
            <a:pPr>
              <a:spcAft>
                <a:spcPts val="100"/>
              </a:spcAft>
              <a:defRPr sz="1300" b="1">
                <a:solidFill>
                  <a:srgbClr val="FFD100"/>
                </a:solidFill>
              </a:defRPr>
            </a:pPr>
            <a:r>
              <a:t>🏆 Retención Frecuente</a:t>
            </a:r>
          </a:p>
          <a:p>
            <a:pPr>
              <a:spcAft>
                <a:spcPts val="600"/>
              </a:spcAft>
              <a:defRPr sz="1100">
                <a:solidFill>
                  <a:srgbClr val="FFFFFF"/>
                </a:solidFill>
              </a:defRPr>
            </a:pPr>
            <a:r>
              <a:t>Obliga al cliente a regresar cada semana a la sucursal para defender su boleto de sobreviviente y competir por el premio mayor de la temporada.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RENTABILIDAD Y VENTAS</a:t>
            </a:r>
          </a:p>
          <a:p>
            <a:pPr>
              <a:defRPr sz="2400" b="1">
                <a:solidFill>
                  <a:srgbClr val="FFFFFF"/>
                </a:solidFill>
              </a:defRPr>
            </a:pPr>
            <a:r>
              <a:t>Estrategia de Premios: Diseñada para Proteger el Margen</a:t>
            </a:r>
          </a:p>
        </p:txBody>
      </p:sp>
      <p:sp>
        <p:nvSpPr>
          <p:cNvPr id="3" name="Rounded Rectangle 2"/>
          <p:cNvSpPr/>
          <p:nvPr/>
        </p:nvSpPr>
        <p:spPr>
          <a:xfrm>
            <a:off x="7315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2864815" cy="4023360"/>
          </a:xfrm>
          <a:prstGeom prst="rect">
            <a:avLst/>
          </a:prstGeom>
          <a:noFill/>
        </p:spPr>
        <p:txBody>
          <a:bodyPr wrap="square">
            <a:spAutoFit/>
          </a:bodyPr>
          <a:lstStyle/>
          <a:p>
            <a:pPr>
              <a:spcAft>
                <a:spcPts val="1400"/>
              </a:spcAft>
              <a:defRPr sz="1650" b="1">
                <a:solidFill>
                  <a:srgbClr val="FFB612"/>
                </a:solidFill>
              </a:defRPr>
            </a:pPr>
            <a:r>
              <a:t>🍔 Alto Valor Percibido vs Bajo Costo</a:t>
            </a:r>
          </a:p>
          <a:p>
            <a:pPr>
              <a:defRPr sz="1300">
                <a:solidFill>
                  <a:srgbClr val="FFFFFF"/>
                </a:solidFill>
              </a:defRPr>
            </a:pPr>
            <a:r>
              <a:t>Una orden de alitas o una cerveza tiene un costo de materia prima muy manejable para la cocina ($30-$50 MXN), pero en la mente del cliente representa un premio valioso de $160 a $240 MXN.</a:t>
            </a:r>
          </a:p>
        </p:txBody>
      </p:sp>
      <p:sp>
        <p:nvSpPr>
          <p:cNvPr id="5" name="Rounded Rectangle 4"/>
          <p:cNvSpPr/>
          <p:nvPr/>
        </p:nvSpPr>
        <p:spPr>
          <a:xfrm>
            <a:off x="43891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920240"/>
            <a:ext cx="2864815" cy="4023360"/>
          </a:xfrm>
          <a:prstGeom prst="rect">
            <a:avLst/>
          </a:prstGeom>
          <a:noFill/>
        </p:spPr>
        <p:txBody>
          <a:bodyPr wrap="square">
            <a:spAutoFit/>
          </a:bodyPr>
          <a:lstStyle/>
          <a:p>
            <a:pPr>
              <a:spcAft>
                <a:spcPts val="1400"/>
              </a:spcAft>
              <a:defRPr sz="1650" b="1">
                <a:solidFill>
                  <a:srgbClr val="00E676"/>
                </a:solidFill>
              </a:defRPr>
            </a:pPr>
            <a:r>
              <a:t>🍻 Festejo y Rondas Adicionales</a:t>
            </a:r>
          </a:p>
          <a:p>
            <a:pPr>
              <a:defRPr sz="1300">
                <a:solidFill>
                  <a:srgbClr val="FFFFFF"/>
                </a:solidFill>
              </a:defRPr>
            </a:pPr>
            <a:r>
              <a:t>Nadie gana y se va. El comensal que resulta campeón celebra con su mesa, y el grupo pide cervezas y platillos adicionales para acompañar el premio. El ticket final siempre supera con creces el costo del incentivo.</a:t>
            </a:r>
          </a:p>
        </p:txBody>
      </p:sp>
      <p:sp>
        <p:nvSpPr>
          <p:cNvPr id="7" name="Rounded Rectangle 6"/>
          <p:cNvSpPr/>
          <p:nvPr/>
        </p:nvSpPr>
        <p:spPr>
          <a:xfrm>
            <a:off x="8046720" y="1645920"/>
            <a:ext cx="34134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20240"/>
            <a:ext cx="2864815" cy="4023360"/>
          </a:xfrm>
          <a:prstGeom prst="rect">
            <a:avLst/>
          </a:prstGeom>
          <a:noFill/>
        </p:spPr>
        <p:txBody>
          <a:bodyPr wrap="square">
            <a:spAutoFit/>
          </a:bodyPr>
          <a:lstStyle/>
          <a:p>
            <a:pPr>
              <a:spcAft>
                <a:spcPts val="1400"/>
              </a:spcAft>
              <a:defRPr sz="1650" b="1">
                <a:solidFill>
                  <a:srgbClr val="FF5722"/>
                </a:solidFill>
              </a:defRPr>
            </a:pPr>
            <a:r>
              <a:t>🔄 Retorno Asegurado en Días Bajas</a:t>
            </a:r>
          </a:p>
          <a:p>
            <a:pPr>
              <a:defRPr sz="1300">
                <a:solidFill>
                  <a:srgbClr val="FFFFFF"/>
                </a:solidFill>
              </a:defRPr>
            </a:pPr>
            <a:r>
              <a:t>Los cupones de 2º y 3º lugar se pueden programar para canjearse de lunes a jueves en su siguiente visita, generando tráfico en días y horarios con menor ocupación.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EQUIPO DE SERVICIO</a:t>
            </a:r>
          </a:p>
          <a:p>
            <a:pPr>
              <a:defRPr sz="2400" b="1">
                <a:solidFill>
                  <a:srgbClr val="FFFFFF"/>
                </a:solidFill>
              </a:defRPr>
            </a:pPr>
            <a:r>
              <a:t>Gamificación del Personal: Meseros como Embajadores</a:t>
            </a:r>
          </a:p>
        </p:txBody>
      </p:sp>
      <p:sp>
        <p:nvSpPr>
          <p:cNvPr id="3" name="Rounded Rectangle 2"/>
          <p:cNvSpPr/>
          <p:nvPr/>
        </p:nvSpPr>
        <p:spPr>
          <a:xfrm>
            <a:off x="731520" y="1645920"/>
            <a:ext cx="6858000"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114800"/>
          </a:xfrm>
          <a:prstGeom prst="rect">
            <a:avLst/>
          </a:prstGeom>
          <a:noFill/>
        </p:spPr>
        <p:txBody>
          <a:bodyPr wrap="square">
            <a:spAutoFit/>
          </a:bodyPr>
          <a:lstStyle/>
          <a:p>
            <a:pPr>
              <a:spcAft>
                <a:spcPts val="200"/>
              </a:spcAft>
              <a:defRPr sz="1400" b="1">
                <a:solidFill>
                  <a:srgbClr val="FFB612"/>
                </a:solidFill>
              </a:defRPr>
            </a:pPr>
            <a:r>
              <a:t>🙋 Atribución Clara en Cada Mesa</a:t>
            </a:r>
          </a:p>
          <a:p>
            <a:pPr>
              <a:spcAft>
                <a:spcPts val="1000"/>
              </a:spcAft>
              <a:defRPr sz="1150">
                <a:solidFill>
                  <a:srgbClr val="FFFFFF"/>
                </a:solidFill>
              </a:defRPr>
            </a:pPr>
            <a:r>
              <a:t>Al registrar sus pronósticos, el cliente selecciona el nombre de su mesero en la lista. La gerencia sabe con métricas exactas qué meseros están invitando activamente y cuáles no.</a:t>
            </a:r>
          </a:p>
          <a:p>
            <a:pPr>
              <a:spcAft>
                <a:spcPts val="200"/>
              </a:spcAft>
              <a:defRPr sz="1400" b="1">
                <a:solidFill>
                  <a:srgbClr val="FFB612"/>
                </a:solidFill>
              </a:defRPr>
            </a:pPr>
            <a:r>
              <a:t>💰 Incentivo Económico Directo (Más Propina)</a:t>
            </a:r>
          </a:p>
          <a:p>
            <a:pPr>
              <a:spcAft>
                <a:spcPts val="1000"/>
              </a:spcAft>
              <a:defRPr sz="1150">
                <a:solidFill>
                  <a:srgbClr val="FFFFFF"/>
                </a:solidFill>
              </a:defRPr>
            </a:pPr>
            <a:r>
              <a:t>Los meseros comprenden la fórmula de inmediato: Si la mesa se queda 3 horas compitiendo, consumirá más rondas de cerveza, hamburguesas y alitas, lo que elevará el total de la cuenta y su propina.</a:t>
            </a:r>
          </a:p>
          <a:p>
            <a:pPr>
              <a:spcAft>
                <a:spcPts val="200"/>
              </a:spcAft>
              <a:defRPr sz="1400" b="1">
                <a:solidFill>
                  <a:srgbClr val="FFB612"/>
                </a:solidFill>
              </a:defRPr>
            </a:pPr>
            <a:r>
              <a:t>💬 Rompehielos Natural de Venta Sugerida</a:t>
            </a:r>
          </a:p>
          <a:p>
            <a:pPr>
              <a:spcAft>
                <a:spcPts val="1000"/>
              </a:spcAft>
              <a:defRPr sz="1150">
                <a:solidFill>
                  <a:srgbClr val="FFFFFF"/>
                </a:solidFill>
              </a:defRPr>
            </a:pPr>
            <a:r>
              <a:t>En lugar del genérico '¿Se les ofrece algo más?', el mesero llega sonriendo: '¿Ya metieron su quiniela de hoy con mi nombre? Si ganan, ¡la casa les invita unas alitas!'.</a:t>
            </a:r>
          </a:p>
          <a:p>
            <a:pPr>
              <a:spcAft>
                <a:spcPts val="200"/>
              </a:spcAft>
              <a:defRPr sz="1400" b="1">
                <a:solidFill>
                  <a:srgbClr val="FFB612"/>
                </a:solidFill>
              </a:defRPr>
            </a:pPr>
            <a:r>
              <a:t>🏆 Competencia Interna del Equipo</a:t>
            </a:r>
          </a:p>
          <a:p>
            <a:pPr>
              <a:spcAft>
                <a:spcPts val="1000"/>
              </a:spcAft>
              <a:defRPr sz="1150">
                <a:solidFill>
                  <a:srgbClr val="FFFFFF"/>
                </a:solidFill>
              </a:defRPr>
            </a:pPr>
            <a:r>
              <a:t>Se puede premiar al mesero con más comensales registrados en la semana con turnos preferenciales o un reconocimiento en la junta semanal.</a:t>
            </a:r>
          </a:p>
        </p:txBody>
      </p:sp>
      <p:pic>
        <p:nvPicPr>
          <p:cNvPr id="5" name="Picture 4" descr="screenshot_admin_player.png"/>
          <p:cNvPicPr>
            <a:picLocks noChangeAspect="1"/>
          </p:cNvPicPr>
          <p:nvPr/>
        </p:nvPicPr>
        <p:blipFill>
          <a:blip r:embed="rId2"/>
          <a:stretch>
            <a:fillRect/>
          </a:stretch>
        </p:blipFill>
        <p:spPr>
          <a:xfrm>
            <a:off x="7863840" y="1828800"/>
            <a:ext cx="3566160" cy="13086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RETORNO DE INVERSIÓN</a:t>
            </a:r>
          </a:p>
          <a:p>
            <a:pPr>
              <a:defRPr sz="2400" b="1">
                <a:solidFill>
                  <a:srgbClr val="FFFFFF"/>
                </a:solidFill>
              </a:defRPr>
            </a:pPr>
            <a:r>
              <a:t>Métricas Clave de Negocio (KPIs y Rentabilidad)</a:t>
            </a:r>
          </a:p>
        </p:txBody>
      </p:sp>
      <p:sp>
        <p:nvSpPr>
          <p:cNvPr id="3" name="Rounded Rectangle 2"/>
          <p:cNvSpPr/>
          <p:nvPr/>
        </p:nvSpPr>
        <p:spPr>
          <a:xfrm>
            <a:off x="731520" y="1645920"/>
            <a:ext cx="24990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2133295" cy="4023360"/>
          </a:xfrm>
          <a:prstGeom prst="rect">
            <a:avLst/>
          </a:prstGeom>
          <a:noFill/>
        </p:spPr>
        <p:txBody>
          <a:bodyPr wrap="square">
            <a:spAutoFit/>
          </a:bodyPr>
          <a:lstStyle/>
          <a:p>
            <a:pPr algn="ctr">
              <a:spcAft>
                <a:spcPts val="400"/>
              </a:spcAft>
              <a:defRPr sz="3600" b="1">
                <a:solidFill>
                  <a:srgbClr val="FFB612"/>
                </a:solidFill>
              </a:defRPr>
            </a:pPr>
            <a:r>
              <a:t>+35%</a:t>
            </a:r>
          </a:p>
          <a:p>
            <a:pPr algn="ctr">
              <a:spcAft>
                <a:spcPts val="1400"/>
              </a:spcAft>
              <a:defRPr sz="1100" b="1">
                <a:solidFill>
                  <a:srgbClr val="FFB612"/>
                </a:solidFill>
              </a:defRPr>
            </a:pPr>
            <a:r>
              <a:t>PERMANENCIA (DWELL TIME)</a:t>
            </a:r>
          </a:p>
          <a:p>
            <a:pPr algn="ctr">
              <a:defRPr sz="1150">
                <a:solidFill>
                  <a:srgbClr val="94A3B8"/>
                </a:solidFill>
              </a:defRPr>
            </a:pPr>
            <a:r>
              <a:t>Las mesas se quedan hasta el silbatazo final para ver si ganan su quiniela.</a:t>
            </a:r>
          </a:p>
        </p:txBody>
      </p:sp>
      <p:sp>
        <p:nvSpPr>
          <p:cNvPr id="5" name="Rounded Rectangle 4"/>
          <p:cNvSpPr/>
          <p:nvPr/>
        </p:nvSpPr>
        <p:spPr>
          <a:xfrm>
            <a:off x="3474720" y="1645920"/>
            <a:ext cx="24990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1920240"/>
            <a:ext cx="2133295" cy="4023360"/>
          </a:xfrm>
          <a:prstGeom prst="rect">
            <a:avLst/>
          </a:prstGeom>
          <a:noFill/>
        </p:spPr>
        <p:txBody>
          <a:bodyPr wrap="square">
            <a:spAutoFit/>
          </a:bodyPr>
          <a:lstStyle/>
          <a:p>
            <a:pPr algn="ctr">
              <a:spcAft>
                <a:spcPts val="400"/>
              </a:spcAft>
              <a:defRPr sz="3600" b="1">
                <a:solidFill>
                  <a:srgbClr val="00E676"/>
                </a:solidFill>
              </a:defRPr>
            </a:pPr>
            <a:r>
              <a:t>+22%</a:t>
            </a:r>
          </a:p>
          <a:p>
            <a:pPr algn="ctr">
              <a:spcAft>
                <a:spcPts val="1400"/>
              </a:spcAft>
              <a:defRPr sz="1100" b="1">
                <a:solidFill>
                  <a:srgbClr val="FFB612"/>
                </a:solidFill>
              </a:defRPr>
            </a:pPr>
            <a:r>
              <a:t>TICKET PROMEDIO (AOV)</a:t>
            </a:r>
          </a:p>
          <a:p>
            <a:pPr algn="ctr">
              <a:defRPr sz="1150">
                <a:solidFill>
                  <a:srgbClr val="94A3B8"/>
                </a:solidFill>
              </a:defRPr>
            </a:pPr>
            <a:r>
              <a:t>El ambiente competitivo estimula pedidos repetidos de cerveza y botanas.</a:t>
            </a:r>
          </a:p>
        </p:txBody>
      </p:sp>
      <p:sp>
        <p:nvSpPr>
          <p:cNvPr id="7" name="Rounded Rectangle 6"/>
          <p:cNvSpPr/>
          <p:nvPr/>
        </p:nvSpPr>
        <p:spPr>
          <a:xfrm>
            <a:off x="6217920" y="1645920"/>
            <a:ext cx="24990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2133295" cy="4023360"/>
          </a:xfrm>
          <a:prstGeom prst="rect">
            <a:avLst/>
          </a:prstGeom>
          <a:noFill/>
        </p:spPr>
        <p:txBody>
          <a:bodyPr wrap="square">
            <a:spAutoFit/>
          </a:bodyPr>
          <a:lstStyle/>
          <a:p>
            <a:pPr algn="ctr">
              <a:spcAft>
                <a:spcPts val="400"/>
              </a:spcAft>
              <a:defRPr sz="3600" b="1">
                <a:solidFill>
                  <a:srgbClr val="FF5722"/>
                </a:solidFill>
              </a:defRPr>
            </a:pPr>
            <a:r>
              <a:t>3x</a:t>
            </a:r>
          </a:p>
          <a:p>
            <a:pPr algn="ctr">
              <a:spcAft>
                <a:spcPts val="1400"/>
              </a:spcAft>
              <a:defRPr sz="1100" b="1">
                <a:solidFill>
                  <a:srgbClr val="FFB612"/>
                </a:solidFill>
              </a:defRPr>
            </a:pPr>
            <a:r>
              <a:t>RETENCIÓN Y LEALTAD</a:t>
            </a:r>
          </a:p>
          <a:p>
            <a:pPr algn="ctr">
              <a:defRPr sz="1150">
                <a:solidFill>
                  <a:srgbClr val="94A3B8"/>
                </a:solidFill>
              </a:defRPr>
            </a:pPr>
            <a:r>
              <a:t>El comensal regresa jornada tras jornada para defender su posición en la tabla.</a:t>
            </a:r>
          </a:p>
        </p:txBody>
      </p:sp>
      <p:sp>
        <p:nvSpPr>
          <p:cNvPr id="9" name="Rounded Rectangle 8"/>
          <p:cNvSpPr/>
          <p:nvPr/>
        </p:nvSpPr>
        <p:spPr>
          <a:xfrm>
            <a:off x="8961120" y="1645920"/>
            <a:ext cx="24990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0" y="1920240"/>
            <a:ext cx="2133295" cy="4023360"/>
          </a:xfrm>
          <a:prstGeom prst="rect">
            <a:avLst/>
          </a:prstGeom>
          <a:noFill/>
        </p:spPr>
        <p:txBody>
          <a:bodyPr wrap="square">
            <a:spAutoFit/>
          </a:bodyPr>
          <a:lstStyle/>
          <a:p>
            <a:pPr algn="ctr">
              <a:spcAft>
                <a:spcPts val="400"/>
              </a:spcAft>
              <a:defRPr sz="3600" b="1">
                <a:solidFill>
                  <a:srgbClr val="FFFFFF"/>
                </a:solidFill>
              </a:defRPr>
            </a:pPr>
            <a:r>
              <a:t>$0</a:t>
            </a:r>
          </a:p>
          <a:p>
            <a:pPr algn="ctr">
              <a:spcAft>
                <a:spcPts val="1400"/>
              </a:spcAft>
              <a:defRPr sz="1100" b="1">
                <a:solidFill>
                  <a:srgbClr val="FFB612"/>
                </a:solidFill>
              </a:defRPr>
            </a:pPr>
            <a:r>
              <a:t>COSTO DE PAPELERÍA</a:t>
            </a:r>
          </a:p>
          <a:p>
            <a:pPr algn="ctr">
              <a:defRPr sz="1150">
                <a:solidFill>
                  <a:srgbClr val="94A3B8"/>
                </a:solidFill>
              </a:defRPr>
            </a:pPr>
            <a:r>
              <a:t>Eliminación total de impresiones, papeletas extraviadas y errores de conteo.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411480"/>
            <a:ext cx="10698480" cy="1005840"/>
          </a:xfrm>
          <a:prstGeom prst="rect">
            <a:avLst/>
          </a:prstGeom>
          <a:noFill/>
        </p:spPr>
        <p:txBody>
          <a:bodyPr wrap="square" lIns="0" tIns="0" rIns="0" bIns="0">
            <a:spAutoFit/>
          </a:bodyPr>
          <a:lstStyle/>
          <a:p>
            <a:pPr>
              <a:spcAft>
                <a:spcPts val="300"/>
              </a:spcAft>
              <a:defRPr sz="1050" b="1">
                <a:solidFill>
                  <a:srgbClr val="FFB612"/>
                </a:solidFill>
              </a:defRPr>
            </a:pPr>
            <a:r>
              <a:t>PRÓXIMOS PASOS</a:t>
            </a:r>
          </a:p>
          <a:p>
            <a:pPr>
              <a:defRPr sz="2400" b="1">
                <a:solidFill>
                  <a:srgbClr val="FFFFFF"/>
                </a:solidFill>
              </a:defRPr>
            </a:pPr>
            <a:r>
              <a:t>Plan de Acción: Lanzamiento Piloto en Querétaro</a:t>
            </a:r>
          </a:p>
        </p:txBody>
      </p:sp>
      <p:sp>
        <p:nvSpPr>
          <p:cNvPr id="3" name="Rounded Rectangle 2"/>
          <p:cNvSpPr/>
          <p:nvPr/>
        </p:nvSpPr>
        <p:spPr>
          <a:xfrm>
            <a:off x="731520" y="1645920"/>
            <a:ext cx="10728655" cy="457200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920240"/>
            <a:ext cx="9966960" cy="4023360"/>
          </a:xfrm>
          <a:prstGeom prst="rect">
            <a:avLst/>
          </a:prstGeom>
          <a:noFill/>
        </p:spPr>
        <p:txBody>
          <a:bodyPr wrap="square">
            <a:spAutoFit/>
          </a:bodyPr>
          <a:lstStyle/>
          <a:p>
            <a:pPr>
              <a:spcAft>
                <a:spcPts val="200"/>
              </a:spcAft>
              <a:defRPr sz="1450" b="1">
                <a:solidFill>
                  <a:srgbClr val="FFB612"/>
                </a:solidFill>
              </a:defRPr>
            </a:pPr>
            <a:r>
              <a:t>Paso 1: Colocación de Material POP en Mesas (Día 1)</a:t>
            </a:r>
          </a:p>
          <a:p>
            <a:pPr>
              <a:spcAft>
                <a:spcPts val="1000"/>
              </a:spcAft>
              <a:defRPr sz="1200">
                <a:solidFill>
                  <a:srgbClr val="FFFFFF"/>
                </a:solidFill>
              </a:defRPr>
            </a:pPr>
            <a:r>
              <a:t>Acrílicos de mesa con código QR directo y bienvenida en pantallas del restaurante.</a:t>
            </a:r>
          </a:p>
          <a:p>
            <a:pPr>
              <a:spcAft>
                <a:spcPts val="200"/>
              </a:spcAft>
              <a:defRPr sz="1450" b="1">
                <a:solidFill>
                  <a:srgbClr val="FFB612"/>
                </a:solidFill>
              </a:defRPr>
            </a:pPr>
            <a:r>
              <a:t>Paso 2: Capacitación Express de 15 Minutos (Día 2)</a:t>
            </a:r>
          </a:p>
          <a:p>
            <a:pPr>
              <a:spcAft>
                <a:spcPts val="1000"/>
              </a:spcAft>
              <a:defRPr sz="1200">
                <a:solidFill>
                  <a:srgbClr val="FFFFFF"/>
                </a:solidFill>
              </a:defRPr>
            </a:pPr>
            <a:r>
              <a:t>Demostración rápida al equipo de meseros y capitanes: cómo invitar a la mesa y cómo verificar al ganador.</a:t>
            </a:r>
          </a:p>
          <a:p>
            <a:pPr>
              <a:spcAft>
                <a:spcPts val="200"/>
              </a:spcAft>
              <a:defRPr sz="1450" b="1">
                <a:solidFill>
                  <a:srgbClr val="FFB612"/>
                </a:solidFill>
              </a:defRPr>
            </a:pPr>
            <a:r>
              <a:t>Paso 3: Activación Piloto con Fan Club (Fin de Semana)</a:t>
            </a:r>
          </a:p>
          <a:p>
            <a:pPr>
              <a:spcAft>
                <a:spcPts val="1000"/>
              </a:spcAft>
              <a:defRPr sz="1200">
                <a:solidFill>
                  <a:srgbClr val="FFFFFF"/>
                </a:solidFill>
              </a:defRPr>
            </a:pPr>
            <a:r>
              <a:t>Lanzamiento con la comunidad de Steelers Nation Querétaro en el partido estelar de la semana.</a:t>
            </a:r>
          </a:p>
          <a:p>
            <a:pPr>
              <a:spcAft>
                <a:spcPts val="200"/>
              </a:spcAft>
              <a:defRPr sz="1450" b="1">
                <a:solidFill>
                  <a:srgbClr val="FFB612"/>
                </a:solidFill>
              </a:defRPr>
            </a:pPr>
            <a:r>
              <a:t>Paso 4: Evaluación de Resultados y Expansión a Otras Sucursales</a:t>
            </a:r>
          </a:p>
          <a:p>
            <a:pPr>
              <a:spcAft>
                <a:spcPts val="1000"/>
              </a:spcAft>
              <a:defRPr sz="1200">
                <a:solidFill>
                  <a:srgbClr val="FFFFFF"/>
                </a:solidFill>
              </a:defRPr>
            </a:pPr>
            <a:r>
              <a:t>Revisión con dueños y gerencia de consumo generado, mesas participantes y lealtad para escalarlo.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